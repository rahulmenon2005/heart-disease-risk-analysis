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imes New Roman MT" charset="1" panose="02030502070405020303"/>
      <p:regular r:id="rId16"/>
    </p:embeddedFont>
    <p:embeddedFont>
      <p:font typeface="Akzidenz-Grotesk" charset="1" panose="02000503030000020003"/>
      <p:regular r:id="rId17"/>
    </p:embeddedFont>
    <p:embeddedFont>
      <p:font typeface="Arimo" charset="1" panose="020B0604020202020204"/>
      <p:regular r:id="rId18"/>
    </p:embeddedFont>
    <p:embeddedFont>
      <p:font typeface="Arimo Bold" charset="1" panose="020B0704020202020204"/>
      <p:regular r:id="rId19"/>
    </p:embeddedFont>
    <p:embeddedFont>
      <p:font typeface="Akzidenz-Grotesk Bold" charset="1" panose="02000803050000020004"/>
      <p:regular r:id="rId20"/>
    </p:embeddedFont>
    <p:embeddedFont>
      <p:font typeface="Times New Roman MT Italics" charset="1" panose="020305020704050903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594547" y="0"/>
            <a:ext cx="6693453" cy="10287000"/>
            <a:chOff x="0" y="0"/>
            <a:chExt cx="8924604" cy="13716000"/>
          </a:xfrm>
        </p:grpSpPr>
        <p:pic>
          <p:nvPicPr>
            <p:cNvPr name="Picture 3" id="3"/>
            <p:cNvPicPr>
              <a:picLocks noChangeAspect="true"/>
            </p:cNvPicPr>
            <p:nvPr/>
          </p:nvPicPr>
          <p:blipFill>
            <a:blip r:embed="rId2"/>
            <a:srcRect l="28324" t="0" r="28324" b="0"/>
            <a:stretch>
              <a:fillRect/>
            </a:stretch>
          </p:blipFill>
          <p:spPr>
            <a:xfrm flipH="false" flipV="false">
              <a:off x="0" y="0"/>
              <a:ext cx="8924604" cy="13716000"/>
            </a:xfrm>
            <a:prstGeom prst="rect">
              <a:avLst/>
            </a:prstGeom>
          </p:spPr>
        </p:pic>
      </p:grpSp>
      <p:grpSp>
        <p:nvGrpSpPr>
          <p:cNvPr name="Group 4" id="4"/>
          <p:cNvGrpSpPr/>
          <p:nvPr/>
        </p:nvGrpSpPr>
        <p:grpSpPr>
          <a:xfrm rot="0">
            <a:off x="3159419" y="9026648"/>
            <a:ext cx="13082669" cy="1260352"/>
            <a:chOff x="0" y="0"/>
            <a:chExt cx="3445641" cy="331944"/>
          </a:xfrm>
        </p:grpSpPr>
        <p:sp>
          <p:nvSpPr>
            <p:cNvPr name="Freeform 5" id="5"/>
            <p:cNvSpPr/>
            <p:nvPr/>
          </p:nvSpPr>
          <p:spPr>
            <a:xfrm flipH="false" flipV="false" rot="0">
              <a:off x="0" y="0"/>
              <a:ext cx="3445641" cy="331944"/>
            </a:xfrm>
            <a:custGeom>
              <a:avLst/>
              <a:gdLst/>
              <a:ahLst/>
              <a:cxnLst/>
              <a:rect r="r" b="b" t="t" l="l"/>
              <a:pathLst>
                <a:path h="331944" w="3445641">
                  <a:moveTo>
                    <a:pt x="0" y="0"/>
                  </a:moveTo>
                  <a:lnTo>
                    <a:pt x="3445641" y="0"/>
                  </a:lnTo>
                  <a:lnTo>
                    <a:pt x="3445641" y="331944"/>
                  </a:lnTo>
                  <a:lnTo>
                    <a:pt x="0" y="331944"/>
                  </a:lnTo>
                  <a:close/>
                </a:path>
              </a:pathLst>
            </a:custGeom>
            <a:solidFill>
              <a:srgbClr val="FFDD54"/>
            </a:solidFill>
          </p:spPr>
        </p:sp>
        <p:sp>
          <p:nvSpPr>
            <p:cNvPr name="TextBox 6" id="6"/>
            <p:cNvSpPr txBox="true"/>
            <p:nvPr/>
          </p:nvSpPr>
          <p:spPr>
            <a:xfrm>
              <a:off x="0" y="-76200"/>
              <a:ext cx="3445641" cy="408144"/>
            </a:xfrm>
            <a:prstGeom prst="rect">
              <a:avLst/>
            </a:prstGeom>
          </p:spPr>
          <p:txBody>
            <a:bodyPr anchor="ctr" rtlCol="false" tIns="50800" lIns="50800" bIns="50800" rIns="50800"/>
            <a:lstStyle/>
            <a:p>
              <a:pPr algn="ctr">
                <a:lnSpc>
                  <a:spcPts val="2239"/>
                </a:lnSpc>
              </a:pPr>
            </a:p>
          </p:txBody>
        </p:sp>
      </p:grpSp>
      <p:grpSp>
        <p:nvGrpSpPr>
          <p:cNvPr name="Group 7" id="7"/>
          <p:cNvGrpSpPr/>
          <p:nvPr/>
        </p:nvGrpSpPr>
        <p:grpSpPr>
          <a:xfrm rot="0">
            <a:off x="-89990" y="9026648"/>
            <a:ext cx="3249409" cy="1260352"/>
            <a:chOff x="0" y="0"/>
            <a:chExt cx="855811" cy="331944"/>
          </a:xfrm>
        </p:grpSpPr>
        <p:sp>
          <p:nvSpPr>
            <p:cNvPr name="Freeform 8" id="8"/>
            <p:cNvSpPr/>
            <p:nvPr/>
          </p:nvSpPr>
          <p:spPr>
            <a:xfrm flipH="false" flipV="false" rot="0">
              <a:off x="0" y="0"/>
              <a:ext cx="855811" cy="331944"/>
            </a:xfrm>
            <a:custGeom>
              <a:avLst/>
              <a:gdLst/>
              <a:ahLst/>
              <a:cxnLst/>
              <a:rect r="r" b="b" t="t" l="l"/>
              <a:pathLst>
                <a:path h="331944" w="855811">
                  <a:moveTo>
                    <a:pt x="0" y="0"/>
                  </a:moveTo>
                  <a:lnTo>
                    <a:pt x="855811" y="0"/>
                  </a:lnTo>
                  <a:lnTo>
                    <a:pt x="855811" y="331944"/>
                  </a:lnTo>
                  <a:lnTo>
                    <a:pt x="0" y="331944"/>
                  </a:lnTo>
                  <a:close/>
                </a:path>
              </a:pathLst>
            </a:custGeom>
            <a:solidFill>
              <a:srgbClr val="646464"/>
            </a:solidFill>
          </p:spPr>
        </p:sp>
        <p:sp>
          <p:nvSpPr>
            <p:cNvPr name="TextBox 9" id="9"/>
            <p:cNvSpPr txBox="true"/>
            <p:nvPr/>
          </p:nvSpPr>
          <p:spPr>
            <a:xfrm>
              <a:off x="0" y="-76200"/>
              <a:ext cx="855811" cy="408144"/>
            </a:xfrm>
            <a:prstGeom prst="rect">
              <a:avLst/>
            </a:prstGeom>
          </p:spPr>
          <p:txBody>
            <a:bodyPr anchor="ctr" rtlCol="false" tIns="50800" lIns="50800" bIns="50800" rIns="50800"/>
            <a:lstStyle/>
            <a:p>
              <a:pPr algn="ctr">
                <a:lnSpc>
                  <a:spcPts val="2239"/>
                </a:lnSpc>
              </a:pPr>
            </a:p>
          </p:txBody>
        </p:sp>
      </p:grpSp>
      <p:grpSp>
        <p:nvGrpSpPr>
          <p:cNvPr name="Group 10" id="10"/>
          <p:cNvGrpSpPr/>
          <p:nvPr/>
        </p:nvGrpSpPr>
        <p:grpSpPr>
          <a:xfrm rot="0">
            <a:off x="442100" y="2586030"/>
            <a:ext cx="9628278" cy="3166013"/>
            <a:chOff x="0" y="0"/>
            <a:chExt cx="12837704" cy="4221351"/>
          </a:xfrm>
        </p:grpSpPr>
        <p:sp>
          <p:nvSpPr>
            <p:cNvPr name="TextBox 11" id="11"/>
            <p:cNvSpPr txBox="true"/>
            <p:nvPr/>
          </p:nvSpPr>
          <p:spPr>
            <a:xfrm rot="0">
              <a:off x="0" y="-9525"/>
              <a:ext cx="12837704" cy="2358010"/>
            </a:xfrm>
            <a:prstGeom prst="rect">
              <a:avLst/>
            </a:prstGeom>
          </p:spPr>
          <p:txBody>
            <a:bodyPr anchor="t" rtlCol="false" tIns="0" lIns="0" bIns="0" rIns="0">
              <a:spAutoFit/>
            </a:bodyPr>
            <a:lstStyle/>
            <a:p>
              <a:pPr algn="l" marL="0" indent="0" lvl="0">
                <a:lnSpc>
                  <a:spcPts val="6345"/>
                </a:lnSpc>
              </a:pPr>
              <a:r>
                <a:rPr lang="en-US" sz="6345">
                  <a:solidFill>
                    <a:srgbClr val="000000"/>
                  </a:solidFill>
                  <a:latin typeface="Times New Roman MT"/>
                  <a:ea typeface="Times New Roman MT"/>
                  <a:cs typeface="Times New Roman MT"/>
                  <a:sym typeface="Times New Roman MT"/>
                </a:rPr>
                <a:t>Health And Lifestyle Analysis using ANN</a:t>
              </a:r>
            </a:p>
          </p:txBody>
        </p:sp>
        <p:sp>
          <p:nvSpPr>
            <p:cNvPr name="TextBox 12" id="12"/>
            <p:cNvSpPr txBox="true"/>
            <p:nvPr/>
          </p:nvSpPr>
          <p:spPr>
            <a:xfrm rot="0">
              <a:off x="44635" y="2687826"/>
              <a:ext cx="10775765" cy="1533525"/>
            </a:xfrm>
            <a:prstGeom prst="rect">
              <a:avLst/>
            </a:prstGeom>
          </p:spPr>
          <p:txBody>
            <a:bodyPr anchor="t" rtlCol="false" tIns="0" lIns="0" bIns="0" rIns="0">
              <a:spAutoFit/>
            </a:bodyPr>
            <a:lstStyle/>
            <a:p>
              <a:pPr algn="l" marL="0" indent="0" lvl="0">
                <a:lnSpc>
                  <a:spcPts val="4319"/>
                </a:lnSpc>
              </a:pPr>
              <a:r>
                <a:rPr lang="en-US" sz="3599">
                  <a:solidFill>
                    <a:srgbClr val="000000"/>
                  </a:solidFill>
                  <a:latin typeface="Akzidenz-Grotesk"/>
                  <a:ea typeface="Akzidenz-Grotesk"/>
                  <a:cs typeface="Akzidenz-Grotesk"/>
                  <a:sym typeface="Akzidenz-Grotesk"/>
                </a:rPr>
                <a:t>Ana</a:t>
              </a:r>
              <a:r>
                <a:rPr lang="en-US" sz="3599" strike="noStrike" u="none">
                  <a:solidFill>
                    <a:srgbClr val="000000"/>
                  </a:solidFill>
                  <a:latin typeface="Akzidenz-Grotesk"/>
                  <a:ea typeface="Akzidenz-Grotesk"/>
                  <a:cs typeface="Akzidenz-Grotesk"/>
                  <a:sym typeface="Akzidenz-Grotesk"/>
                </a:rPr>
                <a:t>lyzing Lifestyle Impact on Vital Parameters</a:t>
              </a: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0" y="0"/>
            <a:ext cx="5619310" cy="10287000"/>
            <a:chOff x="0" y="0"/>
            <a:chExt cx="1479983" cy="2709333"/>
          </a:xfrm>
        </p:grpSpPr>
        <p:sp>
          <p:nvSpPr>
            <p:cNvPr name="Freeform 3" id="3"/>
            <p:cNvSpPr/>
            <p:nvPr/>
          </p:nvSpPr>
          <p:spPr>
            <a:xfrm flipH="false" flipV="false" rot="0">
              <a:off x="0" y="0"/>
              <a:ext cx="1479983" cy="2709333"/>
            </a:xfrm>
            <a:custGeom>
              <a:avLst/>
              <a:gdLst/>
              <a:ahLst/>
              <a:cxnLst/>
              <a:rect r="r" b="b" t="t" l="l"/>
              <a:pathLst>
                <a:path h="2709333" w="1479983">
                  <a:moveTo>
                    <a:pt x="0" y="0"/>
                  </a:moveTo>
                  <a:lnTo>
                    <a:pt x="1479983" y="0"/>
                  </a:lnTo>
                  <a:lnTo>
                    <a:pt x="1479983" y="2709333"/>
                  </a:lnTo>
                  <a:lnTo>
                    <a:pt x="0" y="2709333"/>
                  </a:lnTo>
                  <a:close/>
                </a:path>
              </a:pathLst>
            </a:custGeom>
            <a:solidFill>
              <a:srgbClr val="FFDD54"/>
            </a:solidFill>
          </p:spPr>
        </p:sp>
        <p:sp>
          <p:nvSpPr>
            <p:cNvPr name="TextBox 4" id="4"/>
            <p:cNvSpPr txBox="true"/>
            <p:nvPr/>
          </p:nvSpPr>
          <p:spPr>
            <a:xfrm>
              <a:off x="0" y="-76200"/>
              <a:ext cx="1479983" cy="2785533"/>
            </a:xfrm>
            <a:prstGeom prst="rect">
              <a:avLst/>
            </a:prstGeom>
          </p:spPr>
          <p:txBody>
            <a:bodyPr anchor="ctr" rtlCol="false" tIns="50800" lIns="50800" bIns="50800" rIns="50800"/>
            <a:lstStyle/>
            <a:p>
              <a:pPr algn="ctr">
                <a:lnSpc>
                  <a:spcPts val="2239"/>
                </a:lnSpc>
              </a:pPr>
            </a:p>
          </p:txBody>
        </p:sp>
      </p:grpSp>
      <p:grpSp>
        <p:nvGrpSpPr>
          <p:cNvPr name="Group 5" id="5"/>
          <p:cNvGrpSpPr/>
          <p:nvPr/>
        </p:nvGrpSpPr>
        <p:grpSpPr>
          <a:xfrm rot="-10800000">
            <a:off x="4470991" y="0"/>
            <a:ext cx="1157844" cy="1209304"/>
            <a:chOff x="0" y="0"/>
            <a:chExt cx="571500" cy="596900"/>
          </a:xfrm>
        </p:grpSpPr>
        <p:sp>
          <p:nvSpPr>
            <p:cNvPr name="Freeform 6" id="6"/>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5F5F5"/>
            </a:solidFill>
          </p:spPr>
        </p:sp>
        <p:sp>
          <p:nvSpPr>
            <p:cNvPr name="TextBox 7" id="7"/>
            <p:cNvSpPr txBox="true"/>
            <p:nvPr/>
          </p:nvSpPr>
          <p:spPr>
            <a:xfrm>
              <a:off x="0" y="222250"/>
              <a:ext cx="285750" cy="373380"/>
            </a:xfrm>
            <a:prstGeom prst="rect">
              <a:avLst/>
            </a:prstGeom>
          </p:spPr>
          <p:txBody>
            <a:bodyPr anchor="ctr" rtlCol="false" tIns="50800" lIns="50800" bIns="50800" rIns="50800"/>
            <a:lstStyle/>
            <a:p>
              <a:pPr algn="ctr">
                <a:lnSpc>
                  <a:spcPts val="2239"/>
                </a:lnSpc>
              </a:pPr>
            </a:p>
          </p:txBody>
        </p:sp>
      </p:grpSp>
      <p:graphicFrame>
        <p:nvGraphicFramePr>
          <p:cNvPr name="Table 8" id="8"/>
          <p:cNvGraphicFramePr>
            <a:graphicFrameLocks noGrp="true"/>
          </p:cNvGraphicFramePr>
          <p:nvPr/>
        </p:nvGraphicFramePr>
        <p:xfrm>
          <a:off x="6464992" y="562395"/>
          <a:ext cx="10670965" cy="2771775"/>
        </p:xfrm>
        <a:graphic>
          <a:graphicData uri="http://schemas.openxmlformats.org/drawingml/2006/table">
            <a:tbl>
              <a:tblPr/>
              <a:tblGrid>
                <a:gridCol w="10670965"/>
              </a:tblGrid>
              <a:tr h="2771775">
                <a:tc>
                  <a:txBody>
                    <a:bodyPr anchor="t" rtlCol="false"/>
                    <a:lstStyle/>
                    <a:p>
                      <a:pPr algn="l">
                        <a:lnSpc>
                          <a:spcPts val="3079"/>
                        </a:lnSpc>
                        <a:defRPr/>
                      </a:pPr>
                      <a:r>
                        <a:rPr lang="en-US" sz="2199">
                          <a:solidFill>
                            <a:srgbClr val="000000"/>
                          </a:solidFill>
                          <a:latin typeface="Akzidenz-Grotesk"/>
                          <a:ea typeface="Akzidenz-Grotesk"/>
                          <a:cs typeface="Akzidenz-Grotesk"/>
                          <a:sym typeface="Akzidenz-Grotesk"/>
                        </a:rPr>
                        <a:t>This project focuses on predicting heart disease and analyzing lifestyle patterns using both an Artificial Neural Network (ANN) and an interactive Power BI dashboard. The dataset includes 1000 samples with attributes such as age, gender, BMI, sleep duration, da</a:t>
                      </a:r>
                      <a:r>
                        <a:rPr lang="en-US" sz="2199">
                          <a:solidFill>
                            <a:srgbClr val="000000"/>
                          </a:solidFill>
                          <a:latin typeface="Akzidenz-Grotesk"/>
                          <a:ea typeface="Akzidenz-Grotesk"/>
                          <a:cs typeface="Akzidenz-Grotesk"/>
                          <a:sym typeface="Akzidenz-Grotesk"/>
                        </a:rPr>
                        <a:t>ily steps, calorie intake, heart rate, and smoking or drinking habits. These features are used to train a s</a:t>
                      </a:r>
                      <a:r>
                        <a:rPr lang="en-US" sz="2199">
                          <a:solidFill>
                            <a:srgbClr val="000000"/>
                          </a:solidFill>
                          <a:latin typeface="Akzidenz-Grotesk"/>
                          <a:ea typeface="Akzidenz-Grotesk"/>
                          <a:cs typeface="Akzidenz-Grotesk"/>
                          <a:sym typeface="Akzidenz-Grotesk"/>
                        </a:rPr>
                        <a:t>upervised learning</a:t>
                      </a:r>
                      <a:r>
                        <a:rPr lang="en-US" sz="2199">
                          <a:solidFill>
                            <a:srgbClr val="000000"/>
                          </a:solidFill>
                          <a:latin typeface="Akzidenz-Grotesk"/>
                          <a:ea typeface="Akzidenz-Grotesk"/>
                          <a:cs typeface="Akzidenz-Grotesk"/>
                          <a:sym typeface="Akzidenz-Grotesk"/>
                        </a:rPr>
                        <a:t> m</a:t>
                      </a:r>
                      <a:r>
                        <a:rPr lang="en-US" sz="2199">
                          <a:solidFill>
                            <a:srgbClr val="000000"/>
                          </a:solidFill>
                          <a:latin typeface="Akzidenz-Grotesk"/>
                          <a:ea typeface="Akzidenz-Grotesk"/>
                          <a:cs typeface="Akzidenz-Grotesk"/>
                          <a:sym typeface="Akzidenz-Grotesk"/>
                        </a:rPr>
                        <a:t>odel that class</a:t>
                      </a:r>
                      <a:r>
                        <a:rPr lang="en-US" sz="2199">
                          <a:solidFill>
                            <a:srgbClr val="000000"/>
                          </a:solidFill>
                          <a:latin typeface="Akzidenz-Grotesk"/>
                          <a:ea typeface="Akzidenz-Grotesk"/>
                          <a:cs typeface="Akzidenz-Grotesk"/>
                          <a:sym typeface="Akzidenz-Grotesk"/>
                        </a:rPr>
                        <a:t>ifies whether a pers</a:t>
                      </a:r>
                      <a:r>
                        <a:rPr lang="en-US" sz="2199">
                          <a:solidFill>
                            <a:srgbClr val="000000"/>
                          </a:solidFill>
                          <a:latin typeface="Akzidenz-Grotesk"/>
                          <a:ea typeface="Akzidenz-Grotesk"/>
                          <a:cs typeface="Akzidenz-Grotesk"/>
                          <a:sym typeface="Akzidenz-Grotesk"/>
                        </a:rPr>
                        <a:t>o</a:t>
                      </a:r>
                      <a:r>
                        <a:rPr lang="en-US" sz="2199">
                          <a:solidFill>
                            <a:srgbClr val="000000"/>
                          </a:solidFill>
                          <a:latin typeface="Akzidenz-Grotesk"/>
                          <a:ea typeface="Akzidenz-Grotesk"/>
                          <a:cs typeface="Akzidenz-Grotesk"/>
                          <a:sym typeface="Akzidenz-Grotesk"/>
                        </a:rPr>
                        <a:t>n is at risk of heart di</a:t>
                      </a:r>
                      <a:r>
                        <a:rPr lang="en-US" sz="2199">
                          <a:solidFill>
                            <a:srgbClr val="000000"/>
                          </a:solidFill>
                          <a:latin typeface="Akzidenz-Grotesk"/>
                          <a:ea typeface="Akzidenz-Grotesk"/>
                          <a:cs typeface="Akzidenz-Grotesk"/>
                          <a:sym typeface="Akzidenz-Grotesk"/>
                        </a:rPr>
                        <a:t>sease while also visualizing key lifestyle insights</a:t>
                      </a:r>
                      <a:r>
                        <a:rPr lang="en-US" sz="2199">
                          <a:solidFill>
                            <a:srgbClr val="000000"/>
                          </a:solidFill>
                          <a:latin typeface="Akzidenz-Grotesk"/>
                          <a:ea typeface="Akzidenz-Grotesk"/>
                          <a:cs typeface="Akzidenz-Grotesk"/>
                          <a:sym typeface="Akzidenz-Grotesk"/>
                        </a:rPr>
                        <a: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9" id="9"/>
          <p:cNvGraphicFramePr>
            <a:graphicFrameLocks noGrp="true"/>
          </p:cNvGraphicFramePr>
          <p:nvPr/>
        </p:nvGraphicFramePr>
        <p:xfrm>
          <a:off x="6332936" y="3334170"/>
          <a:ext cx="10690015" cy="3943350"/>
        </p:xfrm>
        <a:graphic>
          <a:graphicData uri="http://schemas.openxmlformats.org/drawingml/2006/table">
            <a:tbl>
              <a:tblPr/>
              <a:tblGrid>
                <a:gridCol w="10690015"/>
              </a:tblGrid>
              <a:tr h="3943350">
                <a:tc>
                  <a:txBody>
                    <a:bodyPr anchor="t" rtlCol="false"/>
                    <a:lstStyle/>
                    <a:p>
                      <a:pPr algn="l">
                        <a:lnSpc>
                          <a:spcPts val="3079"/>
                        </a:lnSpc>
                        <a:defRPr/>
                      </a:pPr>
                      <a:r>
                        <a:rPr lang="en-US" sz="2199">
                          <a:solidFill>
                            <a:srgbClr val="000000"/>
                          </a:solidFill>
                          <a:latin typeface="Akzidenz-Grotesk"/>
                          <a:ea typeface="Akzidenz-Grotesk"/>
                          <a:cs typeface="Akzidenz-Grotesk"/>
                          <a:sym typeface="Akzidenz-Grotesk"/>
                        </a:rPr>
                        <a:t>The Power BI dashboard presents several interactive visuals for comprehensive understanding. A Pie Chart illustrates the ratio of smokers versus n</a:t>
                      </a:r>
                      <a:r>
                        <a:rPr lang="en-US" sz="2199">
                          <a:solidFill>
                            <a:srgbClr val="000000"/>
                          </a:solidFill>
                          <a:latin typeface="Akzidenz-Grotesk"/>
                          <a:ea typeface="Akzidenz-Grotesk"/>
                          <a:cs typeface="Akzidenz-Grotesk"/>
                          <a:sym typeface="Akzidenz-Grotesk"/>
                        </a:rPr>
                        <a:t>on-smokers, showing that 80.9% of participants are non-smokers, while 19.1% smoke. A Donut Chart highlights the prevalence of heart dis</a:t>
                      </a:r>
                      <a:r>
                        <a:rPr lang="en-US" sz="2199">
                          <a:solidFill>
                            <a:srgbClr val="000000"/>
                          </a:solidFill>
                          <a:latin typeface="Akzidenz-Grotesk"/>
                          <a:ea typeface="Akzidenz-Grotesk"/>
                          <a:cs typeface="Akzidenz-Grotesk"/>
                          <a:sym typeface="Akzidenz-Grotesk"/>
                        </a:rPr>
                        <a:t>ease, revealing that only 9.3% of the popula</a:t>
                      </a:r>
                      <a:r>
                        <a:rPr lang="en-US" sz="2199">
                          <a:solidFill>
                            <a:srgbClr val="000000"/>
                          </a:solidFill>
                          <a:latin typeface="Akzidenz-Grotesk"/>
                          <a:ea typeface="Akzidenz-Grotesk"/>
                          <a:cs typeface="Akzidenz-Grotesk"/>
                          <a:sym typeface="Akzidenz-Grotesk"/>
                        </a:rPr>
                        <a:t>tion is affected. A B</a:t>
                      </a:r>
                      <a:r>
                        <a:rPr lang="en-US" sz="2199">
                          <a:solidFill>
                            <a:srgbClr val="000000"/>
                          </a:solidFill>
                          <a:latin typeface="Akzidenz-Grotesk"/>
                          <a:ea typeface="Akzidenz-Grotesk"/>
                          <a:cs typeface="Akzidenz-Grotesk"/>
                          <a:sym typeface="Akzidenz-Grotesk"/>
                        </a:rPr>
                        <a:t>ox Plot explores the relation</a:t>
                      </a:r>
                      <a:r>
                        <a:rPr lang="en-US" sz="2199">
                          <a:solidFill>
                            <a:srgbClr val="000000"/>
                          </a:solidFill>
                          <a:latin typeface="Akzidenz-Grotesk"/>
                          <a:ea typeface="Akzidenz-Grotesk"/>
                          <a:cs typeface="Akzidenz-Grotesk"/>
                          <a:sym typeface="Akzidenz-Grotesk"/>
                        </a:rPr>
                        <a:t>ship between diabetes and alcohol consumption, showing variations in weekly intake between diabetic and non-diabetic individuals. A Clustered Column Chart displays the count of participants by alcohol consumption per week, and a Line Chart visualizes the average alcohol consumption by age, revealing moderate fluctuations across age groups.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193090" y="2182778"/>
            <a:ext cx="4589239" cy="1409699"/>
          </a:xfrm>
          <a:prstGeom prst="rect">
            <a:avLst/>
          </a:prstGeom>
        </p:spPr>
        <p:txBody>
          <a:bodyPr anchor="t" rtlCol="false" tIns="0" lIns="0" bIns="0" rIns="0">
            <a:spAutoFit/>
          </a:bodyPr>
          <a:lstStyle/>
          <a:p>
            <a:pPr algn="l" marL="0" indent="0" lvl="0">
              <a:lnSpc>
                <a:spcPts val="9449"/>
              </a:lnSpc>
            </a:pPr>
            <a:r>
              <a:rPr lang="en-US" sz="8999" spc="-224">
                <a:solidFill>
                  <a:srgbClr val="000000"/>
                </a:solidFill>
                <a:latin typeface="Times New Roman MT"/>
                <a:ea typeface="Times New Roman MT"/>
                <a:cs typeface="Times New Roman MT"/>
                <a:sym typeface="Times New Roman MT"/>
              </a:rPr>
              <a:t>Abstract</a:t>
            </a:r>
          </a:p>
        </p:txBody>
      </p:sp>
      <p:graphicFrame>
        <p:nvGraphicFramePr>
          <p:cNvPr name="Table 11" id="11"/>
          <p:cNvGraphicFramePr>
            <a:graphicFrameLocks noGrp="true"/>
          </p:cNvGraphicFramePr>
          <p:nvPr/>
        </p:nvGraphicFramePr>
        <p:xfrm>
          <a:off x="6211923" y="7277520"/>
          <a:ext cx="10709065" cy="2771775"/>
        </p:xfrm>
        <a:graphic>
          <a:graphicData uri="http://schemas.openxmlformats.org/drawingml/2006/table">
            <a:tbl>
              <a:tblPr/>
              <a:tblGrid>
                <a:gridCol w="10709065"/>
              </a:tblGrid>
              <a:tr h="2771775">
                <a:tc>
                  <a:txBody>
                    <a:bodyPr anchor="t" rtlCol="false"/>
                    <a:lstStyle/>
                    <a:p>
                      <a:pPr algn="l">
                        <a:lnSpc>
                          <a:spcPts val="3079"/>
                        </a:lnSpc>
                        <a:defRPr/>
                      </a:pPr>
                      <a:r>
                        <a:rPr lang="en-US" sz="2199">
                          <a:solidFill>
                            <a:srgbClr val="000000"/>
                          </a:solidFill>
                          <a:latin typeface="Akzidenz-Grotesk"/>
                          <a:ea typeface="Akzidenz-Grotesk"/>
                          <a:cs typeface="Akzidenz-Grotesk"/>
                          <a:sym typeface="Akzidenz-Grotesk"/>
                        </a:rPr>
                        <a:t>The data undergoes preprocessing using label encoding for categorical variables and standard scaling for numerical attributes. The ANN model consists of multiple dense layers with ReLU activation functions, dropout layers to prevent overfitting, and is compiled using the Adam optimizer with a binary cr</a:t>
                      </a:r>
                      <a:r>
                        <a:rPr lang="en-US" sz="2199">
                          <a:solidFill>
                            <a:srgbClr val="000000"/>
                          </a:solidFill>
                          <a:latin typeface="Akzidenz-Grotesk"/>
                          <a:ea typeface="Akzidenz-Grotesk"/>
                          <a:cs typeface="Akzidenz-Grotesk"/>
                          <a:sym typeface="Akzidenz-Grotesk"/>
                        </a:rPr>
                        <a:t>oss-entropy loss function. Experimental results show that the ANN effectively lea</a:t>
                      </a:r>
                      <a:r>
                        <a:rPr lang="en-US" sz="2199">
                          <a:solidFill>
                            <a:srgbClr val="000000"/>
                          </a:solidFill>
                          <a:latin typeface="Akzidenz-Grotesk"/>
                          <a:ea typeface="Akzidenz-Grotesk"/>
                          <a:cs typeface="Akzidenz-Grotesk"/>
                          <a:sym typeface="Akzidenz-Grotesk"/>
                        </a:rPr>
                        <a:t>rns pattern</a:t>
                      </a:r>
                      <a:r>
                        <a:rPr lang="en-US" sz="2199">
                          <a:solidFill>
                            <a:srgbClr val="000000"/>
                          </a:solidFill>
                          <a:latin typeface="Akzidenz-Grotesk"/>
                          <a:ea typeface="Akzidenz-Grotesk"/>
                          <a:cs typeface="Akzidenz-Grotesk"/>
                          <a:sym typeface="Akzidenz-Grotesk"/>
                        </a:rPr>
                        <a:t>s between lifesty</a:t>
                      </a:r>
                      <a:r>
                        <a:rPr lang="en-US" sz="2199">
                          <a:solidFill>
                            <a:srgbClr val="000000"/>
                          </a:solidFill>
                          <a:latin typeface="Akzidenz-Grotesk"/>
                          <a:ea typeface="Akzidenz-Grotesk"/>
                          <a:cs typeface="Akzidenz-Grotesk"/>
                          <a:sym typeface="Akzidenz-Grotesk"/>
                        </a:rPr>
                        <a:t>l</a:t>
                      </a:r>
                      <a:r>
                        <a:rPr lang="en-US" sz="2199">
                          <a:solidFill>
                            <a:srgbClr val="000000"/>
                          </a:solidFill>
                          <a:latin typeface="Akzidenz-Grotesk"/>
                          <a:ea typeface="Akzidenz-Grotesk"/>
                          <a:cs typeface="Akzidenz-Grotesk"/>
                          <a:sym typeface="Akzidenz-Grotesk"/>
                        </a:rPr>
                        <a:t>e factors and heart disease outcomes, achieving an accuracy of 97%.</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transition spd="slow">
    <p:push dir="l"/>
  </p:transition>
</p:sld>
</file>

<file path=ppt/slides/slide3.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5143500"/>
            <a:chOff x="0" y="0"/>
            <a:chExt cx="24384000" cy="6858000"/>
          </a:xfrm>
        </p:grpSpPr>
        <p:grpSp>
          <p:nvGrpSpPr>
            <p:cNvPr name="Group 3" id="3"/>
            <p:cNvGrpSpPr/>
            <p:nvPr/>
          </p:nvGrpSpPr>
          <p:grpSpPr>
            <a:xfrm rot="0">
              <a:off x="0" y="0"/>
              <a:ext cx="24384000" cy="4756963"/>
              <a:chOff x="0" y="0"/>
              <a:chExt cx="4816593" cy="939647"/>
            </a:xfrm>
          </p:grpSpPr>
          <p:sp>
            <p:nvSpPr>
              <p:cNvPr name="Freeform 4" id="4"/>
              <p:cNvSpPr/>
              <p:nvPr/>
            </p:nvSpPr>
            <p:spPr>
              <a:xfrm flipH="false" flipV="false" rot="0">
                <a:off x="0" y="0"/>
                <a:ext cx="4816592" cy="939647"/>
              </a:xfrm>
              <a:custGeom>
                <a:avLst/>
                <a:gdLst/>
                <a:ahLst/>
                <a:cxnLst/>
                <a:rect r="r" b="b" t="t" l="l"/>
                <a:pathLst>
                  <a:path h="939647" w="4816592">
                    <a:moveTo>
                      <a:pt x="0" y="0"/>
                    </a:moveTo>
                    <a:lnTo>
                      <a:pt x="4816592" y="0"/>
                    </a:lnTo>
                    <a:lnTo>
                      <a:pt x="4816592" y="939647"/>
                    </a:lnTo>
                    <a:lnTo>
                      <a:pt x="0" y="939647"/>
                    </a:lnTo>
                    <a:close/>
                  </a:path>
                </a:pathLst>
              </a:custGeom>
              <a:solidFill>
                <a:srgbClr val="FFDD54"/>
              </a:solidFill>
              <a:ln cap="sq">
                <a:noFill/>
                <a:prstDash val="solid"/>
                <a:miter/>
              </a:ln>
            </p:spPr>
          </p:sp>
          <p:sp>
            <p:nvSpPr>
              <p:cNvPr name="TextBox 5" id="5"/>
              <p:cNvSpPr txBox="true"/>
              <p:nvPr/>
            </p:nvSpPr>
            <p:spPr>
              <a:xfrm>
                <a:off x="0" y="-76200"/>
                <a:ext cx="4816593" cy="1015847"/>
              </a:xfrm>
              <a:prstGeom prst="rect">
                <a:avLst/>
              </a:prstGeom>
            </p:spPr>
            <p:txBody>
              <a:bodyPr anchor="ctr" rtlCol="false" tIns="50800" lIns="50800" bIns="50800" rIns="50800"/>
              <a:lstStyle/>
              <a:p>
                <a:pPr algn="ctr" marL="0" indent="0" lvl="0">
                  <a:lnSpc>
                    <a:spcPts val="2239"/>
                  </a:lnSpc>
                  <a:spcBef>
                    <a:spcPct val="0"/>
                  </a:spcBef>
                </a:pPr>
              </a:p>
            </p:txBody>
          </p:sp>
        </p:grpSp>
        <p:grpSp>
          <p:nvGrpSpPr>
            <p:cNvPr name="Group 6" id="6"/>
            <p:cNvGrpSpPr/>
            <p:nvPr/>
          </p:nvGrpSpPr>
          <p:grpSpPr>
            <a:xfrm rot="-10800000">
              <a:off x="22282963" y="4663583"/>
              <a:ext cx="2101037" cy="2194417"/>
              <a:chOff x="0" y="0"/>
              <a:chExt cx="571500" cy="596900"/>
            </a:xfrm>
          </p:grpSpPr>
          <p:sp>
            <p:nvSpPr>
              <p:cNvPr name="Freeform 7" id="7"/>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FDD54"/>
              </a:solidFill>
            </p:spPr>
          </p:sp>
          <p:sp>
            <p:nvSpPr>
              <p:cNvPr name="TextBox 8" id="8"/>
              <p:cNvSpPr txBox="true"/>
              <p:nvPr/>
            </p:nvSpPr>
            <p:spPr>
              <a:xfrm>
                <a:off x="0" y="222250"/>
                <a:ext cx="285750" cy="373380"/>
              </a:xfrm>
              <a:prstGeom prst="rect">
                <a:avLst/>
              </a:prstGeom>
            </p:spPr>
            <p:txBody>
              <a:bodyPr anchor="ctr" rtlCol="false" tIns="50800" lIns="50800" bIns="50800" rIns="50800"/>
              <a:lstStyle/>
              <a:p>
                <a:pPr algn="ctr">
                  <a:lnSpc>
                    <a:spcPts val="2239"/>
                  </a:lnSpc>
                </a:pPr>
              </a:p>
            </p:txBody>
          </p:sp>
        </p:grpSp>
      </p:grpSp>
      <p:graphicFrame>
        <p:nvGraphicFramePr>
          <p:cNvPr name="Table 9" id="9"/>
          <p:cNvGraphicFramePr>
            <a:graphicFrameLocks noGrp="true"/>
          </p:cNvGraphicFramePr>
          <p:nvPr/>
        </p:nvGraphicFramePr>
        <p:xfrm>
          <a:off x="0" y="3623385"/>
          <a:ext cx="22325654" cy="5962686"/>
        </p:xfrm>
        <a:graphic>
          <a:graphicData uri="http://schemas.openxmlformats.org/drawingml/2006/table">
            <a:tbl>
              <a:tblPr/>
              <a:tblGrid>
                <a:gridCol w="3982163"/>
                <a:gridCol w="3238680"/>
                <a:gridCol w="3738841"/>
                <a:gridCol w="6495739"/>
                <a:gridCol w="495300"/>
                <a:gridCol w="4374931"/>
              </a:tblGrid>
              <a:tr h="1114461">
                <a:tc>
                  <a:txBody>
                    <a:bodyPr anchor="t" rtlCol="false"/>
                    <a:lstStyle/>
                    <a:p>
                      <a:pPr algn="l">
                        <a:lnSpc>
                          <a:spcPts val="4480"/>
                        </a:lnSpc>
                        <a:defRPr/>
                      </a:pPr>
                      <a:r>
                        <a:rPr lang="en-US" sz="3200">
                          <a:solidFill>
                            <a:srgbClr val="000000"/>
                          </a:solidFill>
                          <a:latin typeface="Times New Roman MT"/>
                          <a:ea typeface="Times New Roman MT"/>
                          <a:cs typeface="Times New Roman MT"/>
                          <a:sym typeface="Times New Roman MT"/>
                        </a:rPr>
                        <a:t>Purpose</a:t>
                      </a:r>
                      <a:endParaRPr lang="en-US" sz="1100"/>
                    </a:p>
                  </a:txBody>
                  <a:tcPr marL="190500" marR="190500" marT="190500" marB="190500" anchor="b">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4480"/>
                        </a:lnSpc>
                        <a:defRPr/>
                      </a:pPr>
                      <a:r>
                        <a:rPr lang="en-US" sz="3200">
                          <a:solidFill>
                            <a:srgbClr val="000000"/>
                          </a:solidFill>
                          <a:latin typeface="Times New Roman MT"/>
                          <a:ea typeface="Times New Roman MT"/>
                          <a:cs typeface="Times New Roman MT"/>
                          <a:sym typeface="Times New Roman MT"/>
                        </a:rPr>
                        <a:t>Motivation</a:t>
                      </a:r>
                      <a:endParaRPr lang="en-US" sz="1100"/>
                    </a:p>
                  </a:txBody>
                  <a:tcPr marL="190500" marR="190500" marT="190500" marB="190500" anchor="b">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4480"/>
                        </a:lnSpc>
                        <a:defRPr/>
                      </a:pPr>
                      <a:r>
                        <a:rPr lang="en-US" sz="3200">
                          <a:solidFill>
                            <a:srgbClr val="000000"/>
                          </a:solidFill>
                          <a:latin typeface="Times New Roman MT"/>
                          <a:ea typeface="Times New Roman MT"/>
                          <a:cs typeface="Times New Roman MT"/>
                          <a:sym typeface="Times New Roman MT"/>
                        </a:rPr>
                        <a:t>About the Dataset</a:t>
                      </a:r>
                      <a:endParaRPr lang="en-US" sz="1100"/>
                    </a:p>
                  </a:txBody>
                  <a:tcPr marL="190500" marR="190500" marT="190500" marB="190500" anchor="b">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4480"/>
                        </a:lnSpc>
                        <a:defRPr/>
                      </a:pPr>
                      <a:r>
                        <a:rPr lang="en-US" sz="3200">
                          <a:solidFill>
                            <a:srgbClr val="000000"/>
                          </a:solidFill>
                          <a:latin typeface="Times New Roman MT"/>
                          <a:ea typeface="Times New Roman MT"/>
                          <a:cs typeface="Times New Roman MT"/>
                          <a:sym typeface="Times New Roman MT"/>
                        </a:rPr>
                        <a:t>Artificial Neural Networks (ANN)</a:t>
                      </a:r>
                      <a:endParaRPr lang="en-US" sz="1100"/>
                    </a:p>
                  </a:txBody>
                  <a:tcPr marL="190500" marR="190500" marT="190500" marB="190500" anchor="b">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4480"/>
                        </a:lnSpc>
                        <a:defRPr/>
                      </a:pPr>
                      <a:endParaRPr lang="en-US" sz="1100"/>
                    </a:p>
                  </a:txBody>
                  <a:tcPr marL="190500" marR="190500" marT="190500" marB="190500" anchor="b">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4480"/>
                        </a:lnSpc>
                        <a:defRPr/>
                      </a:pPr>
                      <a:endParaRPr lang="en-US" sz="1100"/>
                    </a:p>
                  </a:txBody>
                  <a:tcPr marL="190500" marR="190500" marT="190500" marB="190500" anchor="b">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4848225">
                <a:tc>
                  <a:txBody>
                    <a:bodyPr anchor="t" rtlCol="false"/>
                    <a:lstStyle/>
                    <a:p>
                      <a:pPr algn="l">
                        <a:lnSpc>
                          <a:spcPts val="2519"/>
                        </a:lnSpc>
                        <a:defRPr/>
                      </a:pPr>
                      <a:r>
                        <a:rPr lang="en-US" sz="1799">
                          <a:solidFill>
                            <a:srgbClr val="000000"/>
                          </a:solidFill>
                          <a:latin typeface="Arimo"/>
                          <a:ea typeface="Arimo"/>
                          <a:cs typeface="Arimo"/>
                          <a:sym typeface="Arimo"/>
                        </a:rPr>
                        <a:t>To predict the risk of </a:t>
                      </a:r>
                      <a:r>
                        <a:rPr lang="en-US" sz="1799" b="true">
                          <a:solidFill>
                            <a:srgbClr val="000000"/>
                          </a:solidFill>
                          <a:latin typeface="Arimo Bold"/>
                          <a:ea typeface="Arimo Bold"/>
                          <a:cs typeface="Arimo Bold"/>
                          <a:sym typeface="Arimo Bold"/>
                        </a:rPr>
                        <a:t>heart disease</a:t>
                      </a:r>
                      <a:r>
                        <a:rPr lang="en-US" sz="1799">
                          <a:solidFill>
                            <a:srgbClr val="000000"/>
                          </a:solidFill>
                          <a:latin typeface="Arimo"/>
                          <a:ea typeface="Arimo"/>
                          <a:cs typeface="Arimo"/>
                          <a:sym typeface="Arimo"/>
                        </a:rPr>
                        <a:t> using health and lifestyle indicators.</a:t>
                      </a:r>
                      <a:endParaRPr lang="en-US" sz="1100"/>
                    </a:p>
                    <a:p>
                      <a:pPr algn="l">
                        <a:lnSpc>
                          <a:spcPts val="2519"/>
                        </a:lnSpc>
                      </a:pPr>
                      <a:r>
                        <a:rPr lang="en-US" sz="1799">
                          <a:solidFill>
                            <a:srgbClr val="000000"/>
                          </a:solidFill>
                          <a:latin typeface="Arimo"/>
                          <a:ea typeface="Arimo"/>
                          <a:cs typeface="Arimo"/>
                          <a:sym typeface="Arimo"/>
                        </a:rPr>
                        <a:t>The model helps identify patterns that contribute to </a:t>
                      </a:r>
                      <a:r>
                        <a:rPr lang="en-US" sz="1799" b="true">
                          <a:solidFill>
                            <a:srgbClr val="000000"/>
                          </a:solidFill>
                          <a:latin typeface="Arimo Bold"/>
                          <a:ea typeface="Arimo Bold"/>
                          <a:cs typeface="Arimo Bold"/>
                          <a:sym typeface="Arimo Bold"/>
                        </a:rPr>
                        <a:t>better or poor cardiovascular health</a:t>
                      </a:r>
                      <a:r>
                        <a:rPr lang="en-US" sz="1799">
                          <a:solidFill>
                            <a:srgbClr val="000000"/>
                          </a:solidFill>
                          <a:latin typeface="Arimo"/>
                          <a:ea typeface="Arimo"/>
                          <a:cs typeface="Arimo"/>
                          <a:sym typeface="Arimo"/>
                        </a:rPr>
                        <a:t>.</a:t>
                      </a:r>
                    </a:p>
                  </a:txBody>
                  <a:tcPr marL="190500" marR="190500" marT="190500" marB="190500" anchor="t">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Arimo"/>
                          <a:ea typeface="Arimo"/>
                          <a:cs typeface="Arimo"/>
                          <a:sym typeface="Arimo"/>
                        </a:rPr>
                        <a:t>With increasing lifestyle-related diseases, using data-driven methods like ANN can help in </a:t>
                      </a:r>
                      <a:r>
                        <a:rPr lang="en-US" sz="1799" b="true">
                          <a:solidFill>
                            <a:srgbClr val="000000"/>
                          </a:solidFill>
                          <a:latin typeface="Arimo Bold"/>
                          <a:ea typeface="Arimo Bold"/>
                          <a:cs typeface="Arimo Bold"/>
                          <a:sym typeface="Arimo Bold"/>
                        </a:rPr>
                        <a:t>early detection</a:t>
                      </a:r>
                      <a:r>
                        <a:rPr lang="en-US" sz="1799">
                          <a:solidFill>
                            <a:srgbClr val="000000"/>
                          </a:solidFill>
                          <a:latin typeface="Arimo"/>
                          <a:ea typeface="Arimo"/>
                          <a:cs typeface="Arimo"/>
                          <a:sym typeface="Arimo"/>
                        </a:rPr>
                        <a:t> and </a:t>
                      </a:r>
                      <a:r>
                        <a:rPr lang="en-US" sz="1799" b="true">
                          <a:solidFill>
                            <a:srgbClr val="000000"/>
                          </a:solidFill>
                          <a:latin typeface="Arimo Bold"/>
                          <a:ea typeface="Arimo Bold"/>
                          <a:cs typeface="Arimo Bold"/>
                          <a:sym typeface="Arimo Bold"/>
                        </a:rPr>
                        <a:t>preventive healthcare</a:t>
                      </a:r>
                      <a:r>
                        <a:rPr lang="en-US" sz="1799">
                          <a:solidFill>
                            <a:srgbClr val="000000"/>
                          </a:solidFill>
                          <a:latin typeface="Arimo"/>
                          <a:ea typeface="Arimo"/>
                          <a:cs typeface="Arimo"/>
                          <a:sym typeface="Arimo"/>
                        </a:rPr>
                        <a:t>.</a:t>
                      </a:r>
                      <a:endParaRPr lang="en-US" sz="1100"/>
                    </a:p>
                    <a:p>
                      <a:pPr algn="l">
                        <a:lnSpc>
                          <a:spcPts val="2519"/>
                        </a:lnSpc>
                      </a:pPr>
                      <a:r>
                        <a:rPr lang="en-US" sz="1799">
                          <a:solidFill>
                            <a:srgbClr val="000000"/>
                          </a:solidFill>
                          <a:latin typeface="Arimo"/>
                          <a:ea typeface="Arimo"/>
                          <a:cs typeface="Arimo"/>
                          <a:sym typeface="Arimo"/>
                        </a:rPr>
                        <a:t>Understanding how factors such as </a:t>
                      </a:r>
                      <a:r>
                        <a:rPr lang="en-US" sz="1799" b="true">
                          <a:solidFill>
                            <a:srgbClr val="000000"/>
                          </a:solidFill>
                          <a:latin typeface="Arimo Bold"/>
                          <a:ea typeface="Arimo Bold"/>
                          <a:cs typeface="Arimo Bold"/>
                          <a:sym typeface="Arimo Bold"/>
                        </a:rPr>
                        <a:t>diet, exercise, and sleep</a:t>
                      </a:r>
                      <a:r>
                        <a:rPr lang="en-US" sz="1799">
                          <a:solidFill>
                            <a:srgbClr val="000000"/>
                          </a:solidFill>
                          <a:latin typeface="Arimo"/>
                          <a:ea typeface="Arimo"/>
                          <a:cs typeface="Arimo"/>
                          <a:sym typeface="Arimo"/>
                        </a:rPr>
                        <a:t> affect the heart can help people make better choices.</a:t>
                      </a:r>
                    </a:p>
                  </a:txBody>
                  <a:tcPr marL="190500" marR="190500" marT="190500" marB="190500" anchor="t">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2519"/>
                        </a:lnSpc>
                        <a:defRPr/>
                      </a:pPr>
                      <a:r>
                        <a:rPr lang="en-US" sz="1799">
                          <a:solidFill>
                            <a:srgbClr val="000000"/>
                          </a:solidFill>
                          <a:latin typeface="Arimo"/>
                          <a:ea typeface="Arimo"/>
                          <a:cs typeface="Arimo"/>
                          <a:sym typeface="Arimo"/>
                        </a:rPr>
                        <a:t>Contains </a:t>
                      </a:r>
                      <a:r>
                        <a:rPr lang="en-US" sz="1799" b="true">
                          <a:solidFill>
                            <a:srgbClr val="000000"/>
                          </a:solidFill>
                          <a:latin typeface="Arimo Bold"/>
                          <a:ea typeface="Arimo Bold"/>
                          <a:cs typeface="Arimo Bold"/>
                          <a:sym typeface="Arimo Bold"/>
                        </a:rPr>
                        <a:t>15 attributes</a:t>
                      </a:r>
                      <a:r>
                        <a:rPr lang="en-US" sz="1799">
                          <a:solidFill>
                            <a:srgbClr val="000000"/>
                          </a:solidFill>
                          <a:latin typeface="Arimo"/>
                          <a:ea typeface="Arimo"/>
                          <a:cs typeface="Arimo"/>
                          <a:sym typeface="Arimo"/>
                        </a:rPr>
                        <a:t> related to personal health and daily habits.</a:t>
                      </a:r>
                      <a:endParaRPr lang="en-US" sz="1100"/>
                    </a:p>
                    <a:p>
                      <a:pPr algn="l">
                        <a:lnSpc>
                          <a:spcPts val="2519"/>
                        </a:lnSpc>
                      </a:pPr>
                      <a:r>
                        <a:rPr lang="en-US" sz="1799">
                          <a:solidFill>
                            <a:srgbClr val="000000"/>
                          </a:solidFill>
                          <a:latin typeface="Arimo"/>
                          <a:ea typeface="Arimo"/>
                          <a:cs typeface="Arimo"/>
                          <a:sym typeface="Arimo"/>
                        </a:rPr>
                        <a:t>Includes </a:t>
                      </a:r>
                      <a:r>
                        <a:rPr lang="en-US" sz="1799" b="true">
                          <a:solidFill>
                            <a:srgbClr val="000000"/>
                          </a:solidFill>
                          <a:latin typeface="Arimo Bold"/>
                          <a:ea typeface="Arimo Bold"/>
                          <a:cs typeface="Arimo Bold"/>
                          <a:sym typeface="Arimo Bold"/>
                        </a:rPr>
                        <a:t>demographic features</a:t>
                      </a:r>
                      <a:r>
                        <a:rPr lang="en-US" sz="1799">
                          <a:solidFill>
                            <a:srgbClr val="000000"/>
                          </a:solidFill>
                          <a:latin typeface="Arimo"/>
                          <a:ea typeface="Arimo"/>
                          <a:cs typeface="Arimo"/>
                          <a:sym typeface="Arimo"/>
                        </a:rPr>
                        <a:t> (Age, Gender), </a:t>
                      </a:r>
                      <a:r>
                        <a:rPr lang="en-US" sz="1799" b="true">
                          <a:solidFill>
                            <a:srgbClr val="000000"/>
                          </a:solidFill>
                          <a:latin typeface="Arimo Bold"/>
                          <a:ea typeface="Arimo Bold"/>
                          <a:cs typeface="Arimo Bold"/>
                          <a:sym typeface="Arimo Bold"/>
                        </a:rPr>
                        <a:t>health parameters</a:t>
                      </a:r>
                      <a:r>
                        <a:rPr lang="en-US" sz="1799">
                          <a:solidFill>
                            <a:srgbClr val="000000"/>
                          </a:solidFill>
                          <a:latin typeface="Arimo"/>
                          <a:ea typeface="Arimo"/>
                          <a:cs typeface="Arimo"/>
                          <a:sym typeface="Arimo"/>
                        </a:rPr>
                        <a:t> (BMI, Blood Pressure, Heart Rate), and </a:t>
                      </a:r>
                      <a:r>
                        <a:rPr lang="en-US" sz="1799" b="true">
                          <a:solidFill>
                            <a:srgbClr val="000000"/>
                          </a:solidFill>
                          <a:latin typeface="Arimo Bold"/>
                          <a:ea typeface="Arimo Bold"/>
                          <a:cs typeface="Arimo Bold"/>
                          <a:sym typeface="Arimo Bold"/>
                        </a:rPr>
                        <a:t>lifestyle features</a:t>
                      </a:r>
                      <a:r>
                        <a:rPr lang="en-US" sz="1799">
                          <a:solidFill>
                            <a:srgbClr val="000000"/>
                          </a:solidFill>
                          <a:latin typeface="Arimo"/>
                          <a:ea typeface="Arimo"/>
                          <a:cs typeface="Arimo"/>
                          <a:sym typeface="Arimo"/>
                        </a:rPr>
                        <a:t> (Sleep Hours, Daily Steps, Alcohol, Smoking).</a:t>
                      </a:r>
                    </a:p>
                    <a:p>
                      <a:pPr algn="l">
                        <a:lnSpc>
                          <a:spcPts val="2519"/>
                        </a:lnSpc>
                      </a:pPr>
                      <a:r>
                        <a:rPr lang="en-US" sz="1799">
                          <a:solidFill>
                            <a:srgbClr val="000000"/>
                          </a:solidFill>
                          <a:latin typeface="Arimo"/>
                          <a:ea typeface="Arimo"/>
                          <a:cs typeface="Arimo"/>
                          <a:sym typeface="Arimo"/>
                        </a:rPr>
                        <a:t>The </a:t>
                      </a:r>
                      <a:r>
                        <a:rPr lang="en-US" sz="1799" b="true">
                          <a:solidFill>
                            <a:srgbClr val="000000"/>
                          </a:solidFill>
                          <a:latin typeface="Arimo Bold"/>
                          <a:ea typeface="Arimo Bold"/>
                          <a:cs typeface="Arimo Bold"/>
                          <a:sym typeface="Arimo Bold"/>
                        </a:rPr>
                        <a:t>target variable</a:t>
                      </a:r>
                      <a:r>
                        <a:rPr lang="en-US" sz="1799">
                          <a:solidFill>
                            <a:srgbClr val="000000"/>
                          </a:solidFill>
                          <a:latin typeface="Arimo"/>
                          <a:ea typeface="Arimo"/>
                          <a:cs typeface="Arimo"/>
                          <a:sym typeface="Arimo"/>
                        </a:rPr>
                        <a:t> is </a:t>
                      </a:r>
                      <a:r>
                        <a:rPr lang="en-US" sz="1799" b="true">
                          <a:solidFill>
                            <a:srgbClr val="000000"/>
                          </a:solidFill>
                          <a:latin typeface="Arimo Bold"/>
                          <a:ea typeface="Arimo Bold"/>
                          <a:cs typeface="Arimo Bold"/>
                          <a:sym typeface="Arimo Bold"/>
                        </a:rPr>
                        <a:t>Heart_Disease</a:t>
                      </a:r>
                      <a:r>
                        <a:rPr lang="en-US" sz="1799">
                          <a:solidFill>
                            <a:srgbClr val="000000"/>
                          </a:solidFill>
                          <a:latin typeface="Arimo"/>
                          <a:ea typeface="Arimo"/>
                          <a:cs typeface="Arimo"/>
                          <a:sym typeface="Arimo"/>
                        </a:rPr>
                        <a:t> (Yes/No).</a:t>
                      </a:r>
                    </a:p>
                    <a:p>
                      <a:pPr algn="l">
                        <a:lnSpc>
                          <a:spcPts val="2519"/>
                        </a:lnSpc>
                      </a:pPr>
                      <a:r>
                        <a:rPr lang="en-US" sz="1799">
                          <a:solidFill>
                            <a:srgbClr val="000000"/>
                          </a:solidFill>
                          <a:latin typeface="Arimo"/>
                          <a:ea typeface="Arimo"/>
                          <a:cs typeface="Arimo"/>
                          <a:sym typeface="Arimo"/>
                        </a:rPr>
                        <a:t>Data is preprocessed using </a:t>
                      </a:r>
                      <a:r>
                        <a:rPr lang="en-US" sz="1799" b="true">
                          <a:solidFill>
                            <a:srgbClr val="000000"/>
                          </a:solidFill>
                          <a:latin typeface="Arimo Bold"/>
                          <a:ea typeface="Arimo Bold"/>
                          <a:cs typeface="Arimo Bold"/>
                          <a:sym typeface="Arimo Bold"/>
                        </a:rPr>
                        <a:t>Label Encoding</a:t>
                      </a:r>
                      <a:r>
                        <a:rPr lang="en-US" sz="1799">
                          <a:solidFill>
                            <a:srgbClr val="000000"/>
                          </a:solidFill>
                          <a:latin typeface="Arimo"/>
                          <a:ea typeface="Arimo"/>
                          <a:cs typeface="Arimo"/>
                          <a:sym typeface="Arimo"/>
                        </a:rPr>
                        <a:t> and </a:t>
                      </a:r>
                      <a:r>
                        <a:rPr lang="en-US" sz="1799" b="true">
                          <a:solidFill>
                            <a:srgbClr val="000000"/>
                          </a:solidFill>
                          <a:latin typeface="Arimo Bold"/>
                          <a:ea typeface="Arimo Bold"/>
                          <a:cs typeface="Arimo Bold"/>
                          <a:sym typeface="Arimo Bold"/>
                        </a:rPr>
                        <a:t>Standard Scaling</a:t>
                      </a:r>
                      <a:r>
                        <a:rPr lang="en-US" sz="1799">
                          <a:solidFill>
                            <a:srgbClr val="000000"/>
                          </a:solidFill>
                          <a:latin typeface="Arimo"/>
                          <a:ea typeface="Arimo"/>
                          <a:cs typeface="Arimo"/>
                          <a:sym typeface="Arimo"/>
                        </a:rPr>
                        <a:t> before being used in the ANN model.</a:t>
                      </a:r>
                    </a:p>
                  </a:txBody>
                  <a:tcPr marL="190500" marR="190500" marT="190500" marB="190500" anchor="t">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marL="388628" indent="-194314" lvl="1">
                        <a:lnSpc>
                          <a:spcPts val="2520"/>
                        </a:lnSpc>
                        <a:buFont typeface="Arial"/>
                        <a:buChar char="•"/>
                        <a:defRPr/>
                      </a:pPr>
                      <a:r>
                        <a:rPr lang="en-US" sz="1800">
                          <a:solidFill>
                            <a:srgbClr val="000000"/>
                          </a:solidFill>
                          <a:latin typeface="Arimo"/>
                          <a:ea typeface="Arimo"/>
                          <a:cs typeface="Arimo"/>
                          <a:sym typeface="Arimo"/>
                        </a:rPr>
                        <a:t>Artificial Neural Networks (ANNs) are computational models inspired by the human brain.</a:t>
                      </a:r>
                      <a:endParaRPr lang="en-US" sz="1100"/>
                    </a:p>
                    <a:p>
                      <a:pPr algn="l" marL="388628" indent="-194314" lvl="1">
                        <a:lnSpc>
                          <a:spcPts val="2520"/>
                        </a:lnSpc>
                        <a:buFont typeface="Arial"/>
                        <a:buChar char="•"/>
                      </a:pPr>
                      <a:r>
                        <a:rPr lang="en-US" sz="1800">
                          <a:solidFill>
                            <a:srgbClr val="000000"/>
                          </a:solidFill>
                          <a:latin typeface="Arimo"/>
                          <a:ea typeface="Arimo"/>
                          <a:cs typeface="Arimo"/>
                          <a:sym typeface="Arimo"/>
                        </a:rPr>
                        <a:t>They consist of layers of interconnected nodes (neurons) that learn complex patterns from data.</a:t>
                      </a:r>
                    </a:p>
                    <a:p>
                      <a:pPr algn="l" marL="388628" indent="-194314" lvl="1">
                        <a:lnSpc>
                          <a:spcPts val="2520"/>
                        </a:lnSpc>
                        <a:buFont typeface="Arial"/>
                        <a:buChar char="•"/>
                      </a:pPr>
                      <a:r>
                        <a:rPr lang="en-US" sz="1800">
                          <a:solidFill>
                            <a:srgbClr val="000000"/>
                          </a:solidFill>
                          <a:latin typeface="Arimo"/>
                          <a:ea typeface="Arimo"/>
                          <a:cs typeface="Arimo"/>
                          <a:sym typeface="Arimo"/>
                        </a:rPr>
                        <a:t>ANNs are particularly good at identifying non-linear relationships — such as how multiple health and lifestyle factors combine to influence heart disease.</a:t>
                      </a:r>
                    </a:p>
                    <a:p>
                      <a:pPr algn="l" marL="388628" indent="-194314" lvl="1">
                        <a:lnSpc>
                          <a:spcPts val="2520"/>
                        </a:lnSpc>
                        <a:buFont typeface="Arial"/>
                        <a:buChar char="•"/>
                      </a:pPr>
                      <a:r>
                        <a:rPr lang="en-US" sz="1800">
                          <a:solidFill>
                            <a:srgbClr val="000000"/>
                          </a:solidFill>
                          <a:latin typeface="Arimo"/>
                          <a:ea typeface="Arimo"/>
                          <a:cs typeface="Arimo"/>
                          <a:sym typeface="Arimo"/>
                        </a:rPr>
                        <a:t>The model learns through forward propagation (making predictions) and backpropagation (adjusting weights to reduce errors).</a:t>
                      </a:r>
                    </a:p>
                    <a:p>
                      <a:pPr algn="l" marL="388628" indent="-194314" lvl="1">
                        <a:lnSpc>
                          <a:spcPts val="2520"/>
                        </a:lnSpc>
                        <a:buFont typeface="Arial"/>
                        <a:buChar char="•"/>
                      </a:pPr>
                      <a:r>
                        <a:rPr lang="en-US" sz="1800">
                          <a:solidFill>
                            <a:srgbClr val="000000"/>
                          </a:solidFill>
                          <a:latin typeface="Arimo"/>
                          <a:ea typeface="Arimo"/>
                          <a:cs typeface="Arimo"/>
                          <a:sym typeface="Arimo"/>
                        </a:rPr>
                        <a:t>In this project, an ANN is trained to predict heart disease based on features like BMI, heart rate, sleep, and physical activity.</a:t>
                      </a:r>
                    </a:p>
                    <a:p>
                      <a:pPr algn="l">
                        <a:lnSpc>
                          <a:spcPts val="2520"/>
                        </a:lnSpc>
                      </a:pPr>
                    </a:p>
                  </a:txBody>
                  <a:tcPr marL="190500" marR="190500" marT="190500" marB="190500" anchor="t">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4480"/>
                        </a:lnSpc>
                        <a:defRPr/>
                      </a:pPr>
                      <a:endParaRPr lang="en-US" sz="1100"/>
                    </a:p>
                  </a:txBody>
                  <a:tcPr marL="190500" marR="190500" marT="190500" marB="190500" anchor="t">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4480"/>
                        </a:lnSpc>
                        <a:defRPr/>
                      </a:pPr>
                      <a:endParaRPr lang="en-US" sz="1100"/>
                    </a:p>
                  </a:txBody>
                  <a:tcPr marL="190500" marR="190500" marT="190500" marB="190500" anchor="t">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sp>
        <p:nvSpPr>
          <p:cNvPr name="TextBox 10" id="10"/>
          <p:cNvSpPr txBox="true"/>
          <p:nvPr/>
        </p:nvSpPr>
        <p:spPr>
          <a:xfrm rot="0">
            <a:off x="298735" y="981075"/>
            <a:ext cx="7124700" cy="1409699"/>
          </a:xfrm>
          <a:prstGeom prst="rect">
            <a:avLst/>
          </a:prstGeom>
        </p:spPr>
        <p:txBody>
          <a:bodyPr anchor="t" rtlCol="false" tIns="0" lIns="0" bIns="0" rIns="0">
            <a:spAutoFit/>
          </a:bodyPr>
          <a:lstStyle/>
          <a:p>
            <a:pPr algn="l" marL="0" indent="0" lvl="0">
              <a:lnSpc>
                <a:spcPts val="9449"/>
              </a:lnSpc>
            </a:pPr>
            <a:r>
              <a:rPr lang="en-US" sz="8999" spc="-224">
                <a:solidFill>
                  <a:srgbClr val="000000"/>
                </a:solidFill>
                <a:latin typeface="Times New Roman MT"/>
                <a:ea typeface="Times New Roman MT"/>
                <a:cs typeface="Times New Roman MT"/>
                <a:sym typeface="Times New Roman MT"/>
              </a:rPr>
              <a:t>Introduction</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p:cSld>
    <p:bg>
      <p:bgPr>
        <a:solidFill>
          <a:srgbClr val="FFDD54"/>
        </a:solidFill>
      </p:bgPr>
    </p:bg>
    <p:spTree>
      <p:nvGrpSpPr>
        <p:cNvPr id="1" name=""/>
        <p:cNvGrpSpPr/>
        <p:nvPr/>
      </p:nvGrpSpPr>
      <p:grpSpPr>
        <a:xfrm>
          <a:off x="0" y="0"/>
          <a:ext cx="0" cy="0"/>
          <a:chOff x="0" y="0"/>
          <a:chExt cx="0" cy="0"/>
        </a:xfrm>
      </p:grpSpPr>
      <p:grpSp>
        <p:nvGrpSpPr>
          <p:cNvPr name="Group 2" id="2"/>
          <p:cNvGrpSpPr/>
          <p:nvPr/>
        </p:nvGrpSpPr>
        <p:grpSpPr>
          <a:xfrm rot="0">
            <a:off x="-61912" y="0"/>
            <a:ext cx="8848684" cy="10287000"/>
            <a:chOff x="0" y="0"/>
            <a:chExt cx="11798245" cy="13716000"/>
          </a:xfrm>
        </p:grpSpPr>
        <p:grpSp>
          <p:nvGrpSpPr>
            <p:cNvPr name="Group 3" id="3"/>
            <p:cNvGrpSpPr/>
            <p:nvPr/>
          </p:nvGrpSpPr>
          <p:grpSpPr>
            <a:xfrm rot="0">
              <a:off x="9312057" y="2660197"/>
              <a:ext cx="2486188" cy="11055803"/>
              <a:chOff x="0" y="0"/>
              <a:chExt cx="491099" cy="2183862"/>
            </a:xfrm>
          </p:grpSpPr>
          <p:sp>
            <p:nvSpPr>
              <p:cNvPr name="Freeform 4" id="4"/>
              <p:cNvSpPr/>
              <p:nvPr/>
            </p:nvSpPr>
            <p:spPr>
              <a:xfrm flipH="false" flipV="false" rot="0">
                <a:off x="0" y="0"/>
                <a:ext cx="491099" cy="2183862"/>
              </a:xfrm>
              <a:custGeom>
                <a:avLst/>
                <a:gdLst/>
                <a:ahLst/>
                <a:cxnLst/>
                <a:rect r="r" b="b" t="t" l="l"/>
                <a:pathLst>
                  <a:path h="2183862" w="491099">
                    <a:moveTo>
                      <a:pt x="0" y="0"/>
                    </a:moveTo>
                    <a:lnTo>
                      <a:pt x="491099" y="0"/>
                    </a:lnTo>
                    <a:lnTo>
                      <a:pt x="491099" y="2183862"/>
                    </a:lnTo>
                    <a:lnTo>
                      <a:pt x="0" y="2183862"/>
                    </a:lnTo>
                    <a:close/>
                  </a:path>
                </a:pathLst>
              </a:custGeom>
              <a:solidFill>
                <a:srgbClr val="FFDD54"/>
              </a:solidFill>
            </p:spPr>
          </p:sp>
          <p:sp>
            <p:nvSpPr>
              <p:cNvPr name="TextBox 5" id="5"/>
              <p:cNvSpPr txBox="true"/>
              <p:nvPr/>
            </p:nvSpPr>
            <p:spPr>
              <a:xfrm>
                <a:off x="0" y="-76200"/>
                <a:ext cx="491099" cy="2260062"/>
              </a:xfrm>
              <a:prstGeom prst="rect">
                <a:avLst/>
              </a:prstGeom>
            </p:spPr>
            <p:txBody>
              <a:bodyPr anchor="ctr" rtlCol="false" tIns="50800" lIns="50800" bIns="50800" rIns="50800"/>
              <a:lstStyle/>
              <a:p>
                <a:pPr algn="ctr">
                  <a:lnSpc>
                    <a:spcPts val="2239"/>
                  </a:lnSpc>
                </a:pPr>
              </a:p>
            </p:txBody>
          </p:sp>
        </p:grpSp>
        <p:grpSp>
          <p:nvGrpSpPr>
            <p:cNvPr name="Group 6" id="6"/>
            <p:cNvGrpSpPr/>
            <p:nvPr/>
          </p:nvGrpSpPr>
          <p:grpSpPr>
            <a:xfrm rot="0">
              <a:off x="9312057" y="0"/>
              <a:ext cx="2486188" cy="2672897"/>
              <a:chOff x="0" y="0"/>
              <a:chExt cx="557856" cy="599750"/>
            </a:xfrm>
          </p:grpSpPr>
          <p:sp>
            <p:nvSpPr>
              <p:cNvPr name="Freeform 7" id="7"/>
              <p:cNvSpPr/>
              <p:nvPr/>
            </p:nvSpPr>
            <p:spPr>
              <a:xfrm flipH="false" flipV="false" rot="0">
                <a:off x="0" y="0"/>
                <a:ext cx="557856" cy="599750"/>
              </a:xfrm>
              <a:custGeom>
                <a:avLst/>
                <a:gdLst/>
                <a:ahLst/>
                <a:cxnLst/>
                <a:rect r="r" b="b" t="t" l="l"/>
                <a:pathLst>
                  <a:path h="599750" w="557856">
                    <a:moveTo>
                      <a:pt x="557856" y="599750"/>
                    </a:moveTo>
                    <a:lnTo>
                      <a:pt x="0" y="599750"/>
                    </a:lnTo>
                    <a:lnTo>
                      <a:pt x="0" y="0"/>
                    </a:lnTo>
                    <a:lnTo>
                      <a:pt x="557856" y="599750"/>
                    </a:lnTo>
                    <a:close/>
                  </a:path>
                </a:pathLst>
              </a:custGeom>
              <a:solidFill>
                <a:srgbClr val="FFDD54"/>
              </a:solidFill>
            </p:spPr>
          </p:sp>
          <p:sp>
            <p:nvSpPr>
              <p:cNvPr name="TextBox 8" id="8"/>
              <p:cNvSpPr txBox="true"/>
              <p:nvPr/>
            </p:nvSpPr>
            <p:spPr>
              <a:xfrm>
                <a:off x="0" y="223675"/>
                <a:ext cx="278928" cy="374799"/>
              </a:xfrm>
              <a:prstGeom prst="rect">
                <a:avLst/>
              </a:prstGeom>
            </p:spPr>
            <p:txBody>
              <a:bodyPr anchor="ctr" rtlCol="false" tIns="50800" lIns="50800" bIns="50800" rIns="50800"/>
              <a:lstStyle/>
              <a:p>
                <a:pPr algn="ctr">
                  <a:lnSpc>
                    <a:spcPts val="2239"/>
                  </a:lnSpc>
                </a:pPr>
              </a:p>
            </p:txBody>
          </p:sp>
        </p:grpSp>
        <p:grpSp>
          <p:nvGrpSpPr>
            <p:cNvPr name="Group 9" id="9"/>
            <p:cNvGrpSpPr/>
            <p:nvPr/>
          </p:nvGrpSpPr>
          <p:grpSpPr>
            <a:xfrm rot="0">
              <a:off x="0" y="0"/>
              <a:ext cx="9312057" cy="13716000"/>
              <a:chOff x="0" y="0"/>
              <a:chExt cx="1839419" cy="2709333"/>
            </a:xfrm>
          </p:grpSpPr>
          <p:sp>
            <p:nvSpPr>
              <p:cNvPr name="Freeform 10" id="10"/>
              <p:cNvSpPr/>
              <p:nvPr/>
            </p:nvSpPr>
            <p:spPr>
              <a:xfrm flipH="false" flipV="false" rot="0">
                <a:off x="0" y="0"/>
                <a:ext cx="1839419" cy="2709333"/>
              </a:xfrm>
              <a:custGeom>
                <a:avLst/>
                <a:gdLst/>
                <a:ahLst/>
                <a:cxnLst/>
                <a:rect r="r" b="b" t="t" l="l"/>
                <a:pathLst>
                  <a:path h="2709333" w="1839419">
                    <a:moveTo>
                      <a:pt x="0" y="0"/>
                    </a:moveTo>
                    <a:lnTo>
                      <a:pt x="1839419" y="0"/>
                    </a:lnTo>
                    <a:lnTo>
                      <a:pt x="1839419" y="2709333"/>
                    </a:lnTo>
                    <a:lnTo>
                      <a:pt x="0" y="2709333"/>
                    </a:lnTo>
                    <a:close/>
                  </a:path>
                </a:pathLst>
              </a:custGeom>
              <a:solidFill>
                <a:srgbClr val="FFDD54"/>
              </a:solidFill>
            </p:spPr>
          </p:sp>
          <p:sp>
            <p:nvSpPr>
              <p:cNvPr name="TextBox 11" id="11"/>
              <p:cNvSpPr txBox="true"/>
              <p:nvPr/>
            </p:nvSpPr>
            <p:spPr>
              <a:xfrm>
                <a:off x="0" y="-76200"/>
                <a:ext cx="1839419" cy="2785533"/>
              </a:xfrm>
              <a:prstGeom prst="rect">
                <a:avLst/>
              </a:prstGeom>
            </p:spPr>
            <p:txBody>
              <a:bodyPr anchor="ctr" rtlCol="false" tIns="50800" lIns="50800" bIns="50800" rIns="50800"/>
              <a:lstStyle/>
              <a:p>
                <a:pPr algn="ctr">
                  <a:lnSpc>
                    <a:spcPts val="2239"/>
                  </a:lnSpc>
                </a:pPr>
              </a:p>
            </p:txBody>
          </p:sp>
        </p:grpSp>
      </p:grpSp>
      <p:sp>
        <p:nvSpPr>
          <p:cNvPr name="TextBox 12" id="12"/>
          <p:cNvSpPr txBox="true"/>
          <p:nvPr/>
        </p:nvSpPr>
        <p:spPr>
          <a:xfrm rot="0">
            <a:off x="312252" y="767867"/>
            <a:ext cx="7132905" cy="2470783"/>
          </a:xfrm>
          <a:prstGeom prst="rect">
            <a:avLst/>
          </a:prstGeom>
        </p:spPr>
        <p:txBody>
          <a:bodyPr anchor="t" rtlCol="false" tIns="0" lIns="0" bIns="0" rIns="0">
            <a:spAutoFit/>
          </a:bodyPr>
          <a:lstStyle/>
          <a:p>
            <a:pPr algn="l" marL="0" indent="0" lvl="0">
              <a:lnSpc>
                <a:spcPts val="8819"/>
              </a:lnSpc>
            </a:pPr>
            <a:r>
              <a:rPr lang="en-US" sz="8999" spc="-224">
                <a:solidFill>
                  <a:srgbClr val="000000"/>
                </a:solidFill>
                <a:latin typeface="Times New Roman MT"/>
                <a:ea typeface="Times New Roman MT"/>
                <a:cs typeface="Times New Roman MT"/>
                <a:sym typeface="Times New Roman MT"/>
              </a:rPr>
              <a:t>Methodolog</a:t>
            </a:r>
            <a:r>
              <a:rPr lang="en-US" sz="8999" spc="-224" u="none">
                <a:solidFill>
                  <a:srgbClr val="000000"/>
                </a:solidFill>
                <a:latin typeface="Times New Roman MT"/>
                <a:ea typeface="Times New Roman MT"/>
                <a:cs typeface="Times New Roman MT"/>
                <a:sym typeface="Times New Roman MT"/>
              </a:rPr>
              <a:t>i</a:t>
            </a:r>
            <a:r>
              <a:rPr lang="en-US" sz="8999" spc="-224" u="none">
                <a:solidFill>
                  <a:srgbClr val="000000"/>
                </a:solidFill>
                <a:latin typeface="Times New Roman MT"/>
                <a:ea typeface="Times New Roman MT"/>
                <a:cs typeface="Times New Roman MT"/>
                <a:sym typeface="Times New Roman MT"/>
              </a:rPr>
              <a:t>e</a:t>
            </a:r>
            <a:r>
              <a:rPr lang="en-US" sz="8999" spc="-224" u="none">
                <a:solidFill>
                  <a:srgbClr val="000000"/>
                </a:solidFill>
                <a:latin typeface="Times New Roman MT"/>
                <a:ea typeface="Times New Roman MT"/>
                <a:cs typeface="Times New Roman MT"/>
                <a:sym typeface="Times New Roman MT"/>
              </a:rPr>
              <a:t>s Us</a:t>
            </a:r>
            <a:r>
              <a:rPr lang="en-US" sz="8999" spc="-224" u="none">
                <a:solidFill>
                  <a:srgbClr val="000000"/>
                </a:solidFill>
                <a:latin typeface="Times New Roman MT"/>
                <a:ea typeface="Times New Roman MT"/>
                <a:cs typeface="Times New Roman MT"/>
                <a:sym typeface="Times New Roman MT"/>
              </a:rPr>
              <a:t>e</a:t>
            </a:r>
            <a:r>
              <a:rPr lang="en-US" sz="8999" spc="-224" u="none">
                <a:solidFill>
                  <a:srgbClr val="000000"/>
                </a:solidFill>
                <a:latin typeface="Times New Roman MT"/>
                <a:ea typeface="Times New Roman MT"/>
                <a:cs typeface="Times New Roman MT"/>
                <a:sym typeface="Times New Roman MT"/>
              </a:rPr>
              <a:t>d</a:t>
            </a:r>
          </a:p>
        </p:txBody>
      </p:sp>
      <p:sp>
        <p:nvSpPr>
          <p:cNvPr name="TextBox 13" id="13"/>
          <p:cNvSpPr txBox="true"/>
          <p:nvPr/>
        </p:nvSpPr>
        <p:spPr>
          <a:xfrm rot="0">
            <a:off x="17259300" y="9172575"/>
            <a:ext cx="152400" cy="238125"/>
          </a:xfrm>
          <a:prstGeom prst="rect">
            <a:avLst/>
          </a:prstGeom>
        </p:spPr>
        <p:txBody>
          <a:bodyPr anchor="t" rtlCol="false" tIns="0" lIns="0" bIns="0" rIns="0" wrap="none">
            <a:spAutoFit/>
          </a:bodyPr>
          <a:lstStyle/>
          <a:p>
            <a:pPr algn="ctr">
              <a:lnSpc>
                <a:spcPts val="2940"/>
              </a:lnSpc>
              <a:spcBef>
                <a:spcPct val="0"/>
              </a:spcBef>
            </a:pPr>
            <a:r>
              <a:rPr lang="en-US" sz="2100">
                <a:solidFill>
                  <a:srgbClr val="FFFFFF"/>
                </a:solidFill>
                <a:latin typeface="Akzidenz-Grotesk"/>
                <a:ea typeface="Akzidenz-Grotesk"/>
                <a:cs typeface="Akzidenz-Grotesk"/>
                <a:sym typeface="Akzidenz-Grotesk"/>
              </a:rPr>
              <a:t>4</a:t>
            </a:r>
          </a:p>
        </p:txBody>
      </p:sp>
      <p:graphicFrame>
        <p:nvGraphicFramePr>
          <p:cNvPr name="Table 14" id="14"/>
          <p:cNvGraphicFramePr>
            <a:graphicFrameLocks noGrp="true"/>
          </p:cNvGraphicFramePr>
          <p:nvPr/>
        </p:nvGraphicFramePr>
        <p:xfrm>
          <a:off x="0" y="3858837"/>
          <a:ext cx="7868158" cy="2293344"/>
        </p:xfrm>
        <a:graphic>
          <a:graphicData uri="http://schemas.openxmlformats.org/drawingml/2006/table">
            <a:tbl>
              <a:tblPr/>
              <a:tblGrid>
                <a:gridCol w="4644313"/>
              </a:tblGrid>
              <a:tr h="2293344">
                <a:tc>
                  <a:txBody>
                    <a:bodyPr anchor="t" rtlCol="false"/>
                    <a:lstStyle/>
                    <a:p>
                      <a:pPr algn="l">
                        <a:lnSpc>
                          <a:spcPts val="2940"/>
                        </a:lnSpc>
                        <a:defRPr/>
                      </a:pPr>
                      <a:r>
                        <a:rPr lang="en-US" sz="2100" u="sng" b="true">
                          <a:solidFill>
                            <a:srgbClr val="000000"/>
                          </a:solidFill>
                          <a:latin typeface="Akzidenz-Grotesk Bold"/>
                          <a:ea typeface="Akzidenz-Grotesk Bold"/>
                          <a:cs typeface="Akzidenz-Grotesk Bold"/>
                          <a:sym typeface="Akzidenz-Grotesk Bold"/>
                        </a:rPr>
                        <a:t>Data Collection</a:t>
                      </a:r>
                      <a:endParaRPr lang="en-US" sz="1100"/>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Gathered a dataset containing hea</a:t>
                      </a:r>
                      <a:r>
                        <a:rPr lang="en-US" sz="2100">
                          <a:solidFill>
                            <a:srgbClr val="000000"/>
                          </a:solidFill>
                          <a:latin typeface="Akzidenz-Grotesk"/>
                          <a:ea typeface="Akzidenz-Grotesk"/>
                          <a:cs typeface="Akzidenz-Grotesk"/>
                          <a:sym typeface="Akzidenz-Grotesk"/>
                        </a:rPr>
                        <a:t>l</a:t>
                      </a:r>
                      <a:r>
                        <a:rPr lang="en-US" sz="2100">
                          <a:solidFill>
                            <a:srgbClr val="000000"/>
                          </a:solidFill>
                          <a:latin typeface="Akzidenz-Grotesk"/>
                          <a:ea typeface="Akzidenz-Grotesk"/>
                          <a:cs typeface="Akzidenz-Grotesk"/>
                          <a:sym typeface="Akzidenz-Grotesk"/>
                        </a:rPr>
                        <a:t>th </a:t>
                      </a:r>
                      <a:r>
                        <a:rPr lang="en-US" sz="2100">
                          <a:solidFill>
                            <a:srgbClr val="000000"/>
                          </a:solidFill>
                          <a:latin typeface="Akzidenz-Grotesk"/>
                          <a:ea typeface="Akzidenz-Grotesk"/>
                          <a:cs typeface="Akzidenz-Grotesk"/>
                          <a:sym typeface="Akzidenz-Grotesk"/>
                        </a:rPr>
                        <a:t>a</a:t>
                      </a:r>
                      <a:r>
                        <a:rPr lang="en-US" sz="2100">
                          <a:solidFill>
                            <a:srgbClr val="000000"/>
                          </a:solidFill>
                          <a:latin typeface="Akzidenz-Grotesk"/>
                          <a:ea typeface="Akzidenz-Grotesk"/>
                          <a:cs typeface="Akzidenz-Grotesk"/>
                          <a:sym typeface="Akzidenz-Grotesk"/>
                        </a:rPr>
                        <a:t>n</a:t>
                      </a:r>
                      <a:r>
                        <a:rPr lang="en-US" sz="2100">
                          <a:solidFill>
                            <a:srgbClr val="000000"/>
                          </a:solidFill>
                          <a:latin typeface="Akzidenz-Grotesk"/>
                          <a:ea typeface="Akzidenz-Grotesk"/>
                          <a:cs typeface="Akzidenz-Grotesk"/>
                          <a:sym typeface="Akzidenz-Grotesk"/>
                        </a:rPr>
                        <a:t>d</a:t>
                      </a:r>
                      <a:r>
                        <a:rPr lang="en-US" sz="2100">
                          <a:solidFill>
                            <a:srgbClr val="000000"/>
                          </a:solidFill>
                          <a:latin typeface="Akzidenz-Grotesk"/>
                          <a:ea typeface="Akzidenz-Grotesk"/>
                          <a:cs typeface="Akzidenz-Grotesk"/>
                          <a:sym typeface="Akzidenz-Grotesk"/>
                        </a:rPr>
                        <a:t> life</a:t>
                      </a:r>
                      <a:r>
                        <a:rPr lang="en-US" sz="2100">
                          <a:solidFill>
                            <a:srgbClr val="000000"/>
                          </a:solidFill>
                          <a:latin typeface="Akzidenz-Grotesk"/>
                          <a:ea typeface="Akzidenz-Grotesk"/>
                          <a:cs typeface="Akzidenz-Grotesk"/>
                          <a:sym typeface="Akzidenz-Grotesk"/>
                        </a:rPr>
                        <a:t>s</a:t>
                      </a:r>
                      <a:r>
                        <a:rPr lang="en-US" sz="2100">
                          <a:solidFill>
                            <a:srgbClr val="000000"/>
                          </a:solidFill>
                          <a:latin typeface="Akzidenz-Grotesk"/>
                          <a:ea typeface="Akzidenz-Grotesk"/>
                          <a:cs typeface="Akzidenz-Grotesk"/>
                          <a:sym typeface="Akzidenz-Grotesk"/>
                        </a:rPr>
                        <a:t>tyle attributes such as age, g</a:t>
                      </a:r>
                      <a:r>
                        <a:rPr lang="en-US" sz="2100">
                          <a:solidFill>
                            <a:srgbClr val="000000"/>
                          </a:solidFill>
                          <a:latin typeface="Akzidenz-Grotesk"/>
                          <a:ea typeface="Akzidenz-Grotesk"/>
                          <a:cs typeface="Akzidenz-Grotesk"/>
                          <a:sym typeface="Akzidenz-Grotesk"/>
                        </a:rPr>
                        <a:t>e</a:t>
                      </a:r>
                      <a:r>
                        <a:rPr lang="en-US" sz="2100">
                          <a:solidFill>
                            <a:srgbClr val="000000"/>
                          </a:solidFill>
                          <a:latin typeface="Akzidenz-Grotesk"/>
                          <a:ea typeface="Akzidenz-Grotesk"/>
                          <a:cs typeface="Akzidenz-Grotesk"/>
                          <a:sym typeface="Akzidenz-Grotesk"/>
                        </a:rPr>
                        <a:t>nder, smoking habits, al</a:t>
                      </a:r>
                      <a:r>
                        <a:rPr lang="en-US" sz="2100">
                          <a:solidFill>
                            <a:srgbClr val="000000"/>
                          </a:solidFill>
                          <a:latin typeface="Akzidenz-Grotesk"/>
                          <a:ea typeface="Akzidenz-Grotesk"/>
                          <a:cs typeface="Akzidenz-Grotesk"/>
                          <a:sym typeface="Akzidenz-Grotesk"/>
                        </a:rPr>
                        <a:t>co</a:t>
                      </a:r>
                      <a:r>
                        <a:rPr lang="en-US" sz="2100">
                          <a:solidFill>
                            <a:srgbClr val="000000"/>
                          </a:solidFill>
                          <a:latin typeface="Akzidenz-Grotesk"/>
                          <a:ea typeface="Akzidenz-Grotesk"/>
                          <a:cs typeface="Akzidenz-Grotesk"/>
                          <a:sym typeface="Akzidenz-Grotesk"/>
                        </a:rPr>
                        <a:t>hol consumption, diabetic status, and hea</a:t>
                      </a:r>
                      <a:r>
                        <a:rPr lang="en-US" sz="2100">
                          <a:solidFill>
                            <a:srgbClr val="000000"/>
                          </a:solidFill>
                          <a:latin typeface="Akzidenz-Grotesk"/>
                          <a:ea typeface="Akzidenz-Grotesk"/>
                          <a:cs typeface="Akzidenz-Grotesk"/>
                          <a:sym typeface="Akzidenz-Grotesk"/>
                        </a:rPr>
                        <a:t>r</a:t>
                      </a:r>
                      <a:r>
                        <a:rPr lang="en-US" sz="2100">
                          <a:solidFill>
                            <a:srgbClr val="000000"/>
                          </a:solidFill>
                          <a:latin typeface="Akzidenz-Grotesk"/>
                          <a:ea typeface="Akzidenz-Grotesk"/>
                          <a:cs typeface="Akzidenz-Grotesk"/>
                          <a:sym typeface="Akzidenz-Grotesk"/>
                        </a:rPr>
                        <a:t>t </a:t>
                      </a:r>
                      <a:r>
                        <a:rPr lang="en-US" sz="2100">
                          <a:solidFill>
                            <a:srgbClr val="000000"/>
                          </a:solidFill>
                          <a:latin typeface="Akzidenz-Grotesk"/>
                          <a:ea typeface="Akzidenz-Grotesk"/>
                          <a:cs typeface="Akzidenz-Grotesk"/>
                          <a:sym typeface="Akzidenz-Grotesk"/>
                        </a:rPr>
                        <a:t>d</a:t>
                      </a:r>
                      <a:r>
                        <a:rPr lang="en-US" sz="2100">
                          <a:solidFill>
                            <a:srgbClr val="000000"/>
                          </a:solidFill>
                          <a:latin typeface="Akzidenz-Grotesk"/>
                          <a:ea typeface="Akzidenz-Grotesk"/>
                          <a:cs typeface="Akzidenz-Grotesk"/>
                          <a:sym typeface="Akzidenz-Grotesk"/>
                        </a:rPr>
                        <a:t>isease</a:t>
                      </a:r>
                      <a:r>
                        <a:rPr lang="en-US" sz="2100">
                          <a:solidFill>
                            <a:srgbClr val="000000"/>
                          </a:solidFill>
                          <a:latin typeface="Akzidenz-Grotesk"/>
                          <a:ea typeface="Akzidenz-Grotesk"/>
                          <a:cs typeface="Akzidenz-Grotesk"/>
                          <a:sym typeface="Akzidenz-Grotesk"/>
                        </a:rPr>
                        <a:t> o</a:t>
                      </a:r>
                      <a:r>
                        <a:rPr lang="en-US" sz="2100">
                          <a:solidFill>
                            <a:srgbClr val="000000"/>
                          </a:solidFill>
                          <a:latin typeface="Akzidenz-Grotesk"/>
                          <a:ea typeface="Akzidenz-Grotesk"/>
                          <a:cs typeface="Akzidenz-Grotesk"/>
                          <a:sym typeface="Akzidenz-Grotesk"/>
                        </a:rPr>
                        <a:t>cc</a:t>
                      </a:r>
                      <a:r>
                        <a:rPr lang="en-US" sz="2100">
                          <a:solidFill>
                            <a:srgbClr val="000000"/>
                          </a:solidFill>
                          <a:latin typeface="Akzidenz-Grotesk"/>
                          <a:ea typeface="Akzidenz-Grotesk"/>
                          <a:cs typeface="Akzidenz-Grotesk"/>
                          <a:sym typeface="Akzidenz-Grotesk"/>
                        </a:rPr>
                        <a:t>ur</a:t>
                      </a:r>
                      <a:r>
                        <a:rPr lang="en-US" sz="2100">
                          <a:solidFill>
                            <a:srgbClr val="000000"/>
                          </a:solidFill>
                          <a:latin typeface="Akzidenz-Grotesk"/>
                          <a:ea typeface="Akzidenz-Grotesk"/>
                          <a:cs typeface="Akzidenz-Grotesk"/>
                          <a:sym typeface="Akzidenz-Grotesk"/>
                        </a:rPr>
                        <a:t>r</a:t>
                      </a:r>
                      <a:r>
                        <a:rPr lang="en-US" sz="2100">
                          <a:solidFill>
                            <a:srgbClr val="000000"/>
                          </a:solidFill>
                          <a:latin typeface="Akzidenz-Grotesk"/>
                          <a:ea typeface="Akzidenz-Grotesk"/>
                          <a:cs typeface="Akzidenz-Grotesk"/>
                          <a:sym typeface="Akzidenz-Grotesk"/>
                        </a:rPr>
                        <a:t>e</a:t>
                      </a:r>
                      <a:r>
                        <a:rPr lang="en-US" sz="2100">
                          <a:solidFill>
                            <a:srgbClr val="000000"/>
                          </a:solidFill>
                          <a:latin typeface="Akzidenz-Grotesk"/>
                          <a:ea typeface="Akzidenz-Grotesk"/>
                          <a:cs typeface="Akzidenz-Grotesk"/>
                          <a:sym typeface="Akzidenz-Grotesk"/>
                        </a:rPr>
                        <a:t>nce.</a:t>
                      </a:r>
                    </a:p>
                    <a:p>
                      <a:pPr algn="l">
                        <a:lnSpc>
                          <a:spcPts val="2940"/>
                        </a:lnSpc>
                      </a:pP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15" id="15"/>
          <p:cNvGraphicFramePr>
            <a:graphicFrameLocks noGrp="true"/>
          </p:cNvGraphicFramePr>
          <p:nvPr/>
        </p:nvGraphicFramePr>
        <p:xfrm>
          <a:off x="0" y="6210300"/>
          <a:ext cx="7868158" cy="3048000"/>
        </p:xfrm>
        <a:graphic>
          <a:graphicData uri="http://schemas.openxmlformats.org/drawingml/2006/table">
            <a:tbl>
              <a:tblPr/>
              <a:tblGrid>
                <a:gridCol w="4644313"/>
              </a:tblGrid>
              <a:tr h="3048000">
                <a:tc>
                  <a:txBody>
                    <a:bodyPr anchor="t" rtlCol="false"/>
                    <a:lstStyle/>
                    <a:p>
                      <a:pPr algn="l">
                        <a:lnSpc>
                          <a:spcPts val="2940"/>
                        </a:lnSpc>
                        <a:defRPr/>
                      </a:pPr>
                      <a:r>
                        <a:rPr lang="en-US" sz="2100" u="sng" b="true">
                          <a:solidFill>
                            <a:srgbClr val="000000"/>
                          </a:solidFill>
                          <a:latin typeface="Akzidenz-Grotesk Bold"/>
                          <a:ea typeface="Akzidenz-Grotesk Bold"/>
                          <a:cs typeface="Akzidenz-Grotesk Bold"/>
                          <a:sym typeface="Akzidenz-Grotesk Bold"/>
                        </a:rPr>
                        <a:t>Data Preprocessing</a:t>
                      </a:r>
                      <a:endParaRPr lang="en-US" sz="1100"/>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Removed unnecessary co</a:t>
                      </a:r>
                      <a:r>
                        <a:rPr lang="en-US" sz="2100">
                          <a:solidFill>
                            <a:srgbClr val="000000"/>
                          </a:solidFill>
                          <a:latin typeface="Akzidenz-Grotesk"/>
                          <a:ea typeface="Akzidenz-Grotesk"/>
                          <a:cs typeface="Akzidenz-Grotesk"/>
                          <a:sym typeface="Akzidenz-Grotesk"/>
                        </a:rPr>
                        <a:t>lumns (ID).</a:t>
                      </a:r>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Encoded categorical features using OneHotEncoder.</a:t>
                      </a:r>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Standardized numerical features using StandardScaler.</a:t>
                      </a:r>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Encoded the target variable (Heart_Disease) with LabelEncoder to convert categories into numeric v</a:t>
                      </a:r>
                      <a:r>
                        <a:rPr lang="en-US" sz="2100">
                          <a:solidFill>
                            <a:srgbClr val="000000"/>
                          </a:solidFill>
                          <a:latin typeface="Akzidenz-Grotesk"/>
                          <a:ea typeface="Akzidenz-Grotesk"/>
                          <a:cs typeface="Akzidenz-Grotesk"/>
                          <a:sym typeface="Akzidenz-Grotesk"/>
                        </a:rPr>
                        <a:t>a</a:t>
                      </a:r>
                      <a:r>
                        <a:rPr lang="en-US" sz="2100">
                          <a:solidFill>
                            <a:srgbClr val="000000"/>
                          </a:solidFill>
                          <a:latin typeface="Akzidenz-Grotesk"/>
                          <a:ea typeface="Akzidenz-Grotesk"/>
                          <a:cs typeface="Akzidenz-Grotesk"/>
                          <a:sym typeface="Akzidenz-Grotesk"/>
                        </a:rPr>
                        <a:t>lues.</a:t>
                      </a:r>
                    </a:p>
                    <a:p>
                      <a:pPr algn="l">
                        <a:lnSpc>
                          <a:spcPts val="2940"/>
                        </a:lnSpc>
                      </a:pP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16" id="16"/>
          <p:cNvGraphicFramePr>
            <a:graphicFrameLocks noGrp="true"/>
          </p:cNvGraphicFramePr>
          <p:nvPr/>
        </p:nvGraphicFramePr>
        <p:xfrm>
          <a:off x="8203813" y="3847131"/>
          <a:ext cx="9355125" cy="2305050"/>
        </p:xfrm>
        <a:graphic>
          <a:graphicData uri="http://schemas.openxmlformats.org/drawingml/2006/table">
            <a:tbl>
              <a:tblPr/>
              <a:tblGrid>
                <a:gridCol w="6565601"/>
              </a:tblGrid>
              <a:tr h="2305050">
                <a:tc>
                  <a:txBody>
                    <a:bodyPr anchor="t" rtlCol="false"/>
                    <a:lstStyle/>
                    <a:p>
                      <a:pPr algn="l">
                        <a:lnSpc>
                          <a:spcPts val="2940"/>
                        </a:lnSpc>
                        <a:defRPr/>
                      </a:pPr>
                      <a:r>
                        <a:rPr lang="en-US" sz="2100" u="sng" b="true">
                          <a:solidFill>
                            <a:srgbClr val="000000"/>
                          </a:solidFill>
                          <a:latin typeface="Akzidenz-Grotesk Bold"/>
                          <a:ea typeface="Akzidenz-Grotesk Bold"/>
                          <a:cs typeface="Akzidenz-Grotesk Bold"/>
                          <a:sym typeface="Akzidenz-Grotesk Bold"/>
                        </a:rPr>
                        <a:t>Model Compilation and Training</a:t>
                      </a:r>
                      <a:endParaRPr lang="en-US" sz="1100"/>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Co</a:t>
                      </a:r>
                      <a:r>
                        <a:rPr lang="en-US" sz="2100">
                          <a:solidFill>
                            <a:srgbClr val="000000"/>
                          </a:solidFill>
                          <a:latin typeface="Akzidenz-Grotesk"/>
                          <a:ea typeface="Akzidenz-Grotesk"/>
                          <a:cs typeface="Akzidenz-Grotesk"/>
                          <a:sym typeface="Akzidenz-Grotesk"/>
                        </a:rPr>
                        <a:t>mpiled the </a:t>
                      </a:r>
                      <a:r>
                        <a:rPr lang="en-US" sz="2100">
                          <a:solidFill>
                            <a:srgbClr val="000000"/>
                          </a:solidFill>
                          <a:latin typeface="Akzidenz-Grotesk"/>
                          <a:ea typeface="Akzidenz-Grotesk"/>
                          <a:cs typeface="Akzidenz-Grotesk"/>
                          <a:sym typeface="Akzidenz-Grotesk"/>
                        </a:rPr>
                        <a:t>model using Adam optimizer and Binary Crossentropy loss.</a:t>
                      </a:r>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Trai</a:t>
                      </a:r>
                      <a:r>
                        <a:rPr lang="en-US" sz="2100">
                          <a:solidFill>
                            <a:srgbClr val="000000"/>
                          </a:solidFill>
                          <a:latin typeface="Akzidenz-Grotesk"/>
                          <a:ea typeface="Akzidenz-Grotesk"/>
                          <a:cs typeface="Akzidenz-Grotesk"/>
                          <a:sym typeface="Akzidenz-Grotesk"/>
                        </a:rPr>
                        <a:t>ned the model for 50 epochs with a batch size of 32 and validation split of 0.2</a:t>
                      </a:r>
                      <a:r>
                        <a:rPr lang="en-US" sz="2100">
                          <a:solidFill>
                            <a:srgbClr val="000000"/>
                          </a:solidFill>
                          <a:latin typeface="Akzidenz-Grotesk"/>
                          <a:ea typeface="Akzidenz-Grotesk"/>
                          <a:cs typeface="Akzidenz-Grotesk"/>
                          <a:sym typeface="Akzidenz-Grotesk"/>
                        </a:rPr>
                        <a:t>.</a:t>
                      </a:r>
                    </a:p>
                    <a:p>
                      <a:pPr algn="l">
                        <a:lnSpc>
                          <a:spcPts val="2940"/>
                        </a:lnSpc>
                      </a:pP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17" id="17"/>
          <p:cNvGraphicFramePr>
            <a:graphicFrameLocks noGrp="true"/>
          </p:cNvGraphicFramePr>
          <p:nvPr/>
        </p:nvGraphicFramePr>
        <p:xfrm>
          <a:off x="8203813" y="758342"/>
          <a:ext cx="9355125" cy="3028950"/>
        </p:xfrm>
        <a:graphic>
          <a:graphicData uri="http://schemas.openxmlformats.org/drawingml/2006/table">
            <a:tbl>
              <a:tblPr/>
              <a:tblGrid>
                <a:gridCol w="6549743"/>
              </a:tblGrid>
              <a:tr h="3028950">
                <a:tc>
                  <a:txBody>
                    <a:bodyPr anchor="t" rtlCol="false"/>
                    <a:lstStyle/>
                    <a:p>
                      <a:pPr algn="l">
                        <a:lnSpc>
                          <a:spcPts val="2940"/>
                        </a:lnSpc>
                        <a:defRPr/>
                      </a:pPr>
                      <a:r>
                        <a:rPr lang="en-US" sz="2100" u="sng" b="true">
                          <a:solidFill>
                            <a:srgbClr val="000000"/>
                          </a:solidFill>
                          <a:latin typeface="Akzidenz-Grotesk Bold"/>
                          <a:ea typeface="Akzidenz-Grotesk Bold"/>
                          <a:cs typeface="Akzidenz-Grotesk Bold"/>
                          <a:sym typeface="Akzidenz-Grotesk Bold"/>
                        </a:rPr>
                        <a:t>Model Development (Artificial Neural Network)</a:t>
                      </a:r>
                      <a:endParaRPr lang="en-US" sz="1100"/>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D</a:t>
                      </a:r>
                      <a:r>
                        <a:rPr lang="en-US" sz="2100">
                          <a:solidFill>
                            <a:srgbClr val="000000"/>
                          </a:solidFill>
                          <a:latin typeface="Akzidenz-Grotesk"/>
                          <a:ea typeface="Akzidenz-Grotesk"/>
                          <a:cs typeface="Akzidenz-Grotesk"/>
                          <a:sym typeface="Akzidenz-Grotesk"/>
                        </a:rPr>
                        <a:t>esigned a Sequential Neural Network using Keras wi</a:t>
                      </a:r>
                      <a:r>
                        <a:rPr lang="en-US" sz="2100">
                          <a:solidFill>
                            <a:srgbClr val="000000"/>
                          </a:solidFill>
                          <a:latin typeface="Akzidenz-Grotesk"/>
                          <a:ea typeface="Akzidenz-Grotesk"/>
                          <a:cs typeface="Akzidenz-Grotesk"/>
                          <a:sym typeface="Akzidenz-Grotesk"/>
                        </a:rPr>
                        <a:t>th multiple dense layers.</a:t>
                      </a:r>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Used ReLU activation in hidden layers and Sigmoid activation in the output layer for binary classification.</a:t>
                      </a:r>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Included Dropout layers to reduce overfitting.</a:t>
                      </a:r>
                    </a:p>
                    <a:p>
                      <a:pPr algn="l">
                        <a:lnSpc>
                          <a:spcPts val="2940"/>
                        </a:lnSpc>
                      </a:pP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18" id="18"/>
          <p:cNvGraphicFramePr>
            <a:graphicFrameLocks noGrp="true"/>
          </p:cNvGraphicFramePr>
          <p:nvPr/>
        </p:nvGraphicFramePr>
        <p:xfrm>
          <a:off x="8203813" y="6210300"/>
          <a:ext cx="9355125" cy="3419475"/>
        </p:xfrm>
        <a:graphic>
          <a:graphicData uri="http://schemas.openxmlformats.org/drawingml/2006/table">
            <a:tbl>
              <a:tblPr/>
              <a:tblGrid>
                <a:gridCol w="6553139"/>
              </a:tblGrid>
              <a:tr h="3419475">
                <a:tc>
                  <a:txBody>
                    <a:bodyPr anchor="t" rtlCol="false"/>
                    <a:lstStyle/>
                    <a:p>
                      <a:pPr algn="l">
                        <a:lnSpc>
                          <a:spcPts val="2940"/>
                        </a:lnSpc>
                        <a:defRPr/>
                      </a:pPr>
                      <a:r>
                        <a:rPr lang="en-US" sz="2100" u="sng" b="true">
                          <a:solidFill>
                            <a:srgbClr val="000000"/>
                          </a:solidFill>
                          <a:latin typeface="Akzidenz-Grotesk Bold"/>
                          <a:ea typeface="Akzidenz-Grotesk Bold"/>
                          <a:cs typeface="Akzidenz-Grotesk Bold"/>
                          <a:sym typeface="Akzidenz-Grotesk Bold"/>
                        </a:rPr>
                        <a:t>Model Evaluation</a:t>
                      </a:r>
                      <a:endParaRPr lang="en-US" sz="1100"/>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Evaluated performance using k</a:t>
                      </a:r>
                      <a:r>
                        <a:rPr lang="en-US" sz="2100">
                          <a:solidFill>
                            <a:srgbClr val="000000"/>
                          </a:solidFill>
                          <a:latin typeface="Akzidenz-Grotesk"/>
                          <a:ea typeface="Akzidenz-Grotesk"/>
                          <a:cs typeface="Akzidenz-Grotesk"/>
                          <a:sym typeface="Akzidenz-Grotesk"/>
                        </a:rPr>
                        <a:t>ey metrics such as:</a:t>
                      </a:r>
                    </a:p>
                    <a:p>
                      <a:pPr algn="l" marL="906780" indent="-302260" lvl="2">
                        <a:lnSpc>
                          <a:spcPts val="2940"/>
                        </a:lnSpc>
                        <a:buFont typeface="Arial"/>
                        <a:buChar char="⚬"/>
                      </a:pPr>
                      <a:r>
                        <a:rPr lang="en-US" sz="2100">
                          <a:solidFill>
                            <a:srgbClr val="000000"/>
                          </a:solidFill>
                          <a:latin typeface="Akzidenz-Grotesk"/>
                          <a:ea typeface="Akzidenz-Grotesk"/>
                          <a:cs typeface="Akzidenz-Grotesk"/>
                          <a:sym typeface="Akzidenz-Grotesk"/>
                        </a:rPr>
                        <a:t>Accuracy – Meas</a:t>
                      </a:r>
                      <a:r>
                        <a:rPr lang="en-US" sz="2100">
                          <a:solidFill>
                            <a:srgbClr val="000000"/>
                          </a:solidFill>
                          <a:latin typeface="Akzidenz-Grotesk"/>
                          <a:ea typeface="Akzidenz-Grotesk"/>
                          <a:cs typeface="Akzidenz-Grotesk"/>
                          <a:sym typeface="Akzidenz-Grotesk"/>
                        </a:rPr>
                        <a:t>ures overall correctness of predictions.</a:t>
                      </a:r>
                    </a:p>
                    <a:p>
                      <a:pPr algn="l" marL="906780" indent="-302260" lvl="2">
                        <a:lnSpc>
                          <a:spcPts val="2940"/>
                        </a:lnSpc>
                        <a:buFont typeface="Arial"/>
                        <a:buChar char="⚬"/>
                      </a:pPr>
                      <a:r>
                        <a:rPr lang="en-US" sz="2100">
                          <a:solidFill>
                            <a:srgbClr val="000000"/>
                          </a:solidFill>
                          <a:latin typeface="Akzidenz-Grotesk"/>
                          <a:ea typeface="Akzidenz-Grotesk"/>
                          <a:cs typeface="Akzidenz-Grotesk"/>
                          <a:sym typeface="Akzidenz-Grotesk"/>
                        </a:rPr>
                        <a:t>Precision – How many predicted positives are correct.</a:t>
                      </a:r>
                    </a:p>
                    <a:p>
                      <a:pPr algn="l" marL="906780" indent="-302260" lvl="2">
                        <a:lnSpc>
                          <a:spcPts val="2940"/>
                        </a:lnSpc>
                        <a:buFont typeface="Arial"/>
                        <a:buChar char="⚬"/>
                      </a:pPr>
                      <a:r>
                        <a:rPr lang="en-US" sz="2100">
                          <a:solidFill>
                            <a:srgbClr val="000000"/>
                          </a:solidFill>
                          <a:latin typeface="Akzidenz-Grotesk"/>
                          <a:ea typeface="Akzidenz-Grotesk"/>
                          <a:cs typeface="Akzidenz-Grotesk"/>
                          <a:sym typeface="Akzidenz-Grotesk"/>
                        </a:rPr>
                        <a:t>Recall – How many actual positives are detected correctly.</a:t>
                      </a:r>
                    </a:p>
                    <a:p>
                      <a:pPr algn="l" marL="906780" indent="-302260" lvl="2">
                        <a:lnSpc>
                          <a:spcPts val="2940"/>
                        </a:lnSpc>
                        <a:buFont typeface="Arial"/>
                        <a:buChar char="⚬"/>
                      </a:pPr>
                      <a:r>
                        <a:rPr lang="en-US" sz="2100">
                          <a:solidFill>
                            <a:srgbClr val="000000"/>
                          </a:solidFill>
                          <a:latin typeface="Akzidenz-Grotesk"/>
                          <a:ea typeface="Akzidenz-Grotesk"/>
                          <a:cs typeface="Akzidenz-Grotesk"/>
                          <a:sym typeface="Akzidenz-Grotesk"/>
                        </a:rPr>
                        <a:t>F1-Score – Balance between precision and recall.</a:t>
                      </a:r>
                    </a:p>
                    <a:p>
                      <a:pPr algn="l" marL="453390" indent="-226695" lvl="1">
                        <a:lnSpc>
                          <a:spcPts val="2940"/>
                        </a:lnSpc>
                        <a:buFont typeface="Arial"/>
                        <a:buChar char="•"/>
                      </a:pPr>
                      <a:r>
                        <a:rPr lang="en-US" sz="2100">
                          <a:solidFill>
                            <a:srgbClr val="000000"/>
                          </a:solidFill>
                          <a:latin typeface="Akzidenz-Grotesk"/>
                          <a:ea typeface="Akzidenz-Grotesk"/>
                          <a:cs typeface="Akzidenz-Grotesk"/>
                          <a:sym typeface="Akzidenz-Grotesk"/>
                        </a:rPr>
                        <a:t>Constructed a Confusion Matrix to visualize true and f</a:t>
                      </a:r>
                      <a:r>
                        <a:rPr lang="en-US" sz="2100">
                          <a:solidFill>
                            <a:srgbClr val="000000"/>
                          </a:solidFill>
                          <a:latin typeface="Akzidenz-Grotesk"/>
                          <a:ea typeface="Akzidenz-Grotesk"/>
                          <a:cs typeface="Akzidenz-Grotesk"/>
                          <a:sym typeface="Akzidenz-Grotesk"/>
                        </a:rPr>
                        <a:t>alse classifications.</a:t>
                      </a:r>
                    </a:p>
                    <a:p>
                      <a:pPr algn="l">
                        <a:lnSpc>
                          <a:spcPts val="2940"/>
                        </a:lnSpc>
                      </a:pP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transition spd="slow">
    <p:push dir="l"/>
  </p:transition>
</p:sld>
</file>

<file path=ppt/slides/slide5.xml><?xml version="1.0" encoding="utf-8"?>
<p:sld xmlns:p="http://schemas.openxmlformats.org/presentationml/2006/main" xmlns:a="http://schemas.openxmlformats.org/drawingml/2006/main">
  <p:cSld>
    <p:bg>
      <p:bgPr>
        <a:solidFill>
          <a:srgbClr val="E6E6E6"/>
        </a:solidFill>
      </p:bgPr>
    </p:bg>
    <p:spTree>
      <p:nvGrpSpPr>
        <p:cNvPr id="1" name=""/>
        <p:cNvGrpSpPr/>
        <p:nvPr/>
      </p:nvGrpSpPr>
      <p:grpSpPr>
        <a:xfrm>
          <a:off x="0" y="0"/>
          <a:ext cx="0" cy="0"/>
          <a:chOff x="0" y="0"/>
          <a:chExt cx="0" cy="0"/>
        </a:xfrm>
      </p:grpSpPr>
      <p:sp>
        <p:nvSpPr>
          <p:cNvPr name="TextBox 2" id="2"/>
          <p:cNvSpPr txBox="true"/>
          <p:nvPr/>
        </p:nvSpPr>
        <p:spPr>
          <a:xfrm rot="0">
            <a:off x="8767293" y="4394935"/>
            <a:ext cx="7983824" cy="1409699"/>
          </a:xfrm>
          <a:prstGeom prst="rect">
            <a:avLst/>
          </a:prstGeom>
        </p:spPr>
        <p:txBody>
          <a:bodyPr anchor="t" rtlCol="false" tIns="0" lIns="0" bIns="0" rIns="0">
            <a:spAutoFit/>
          </a:bodyPr>
          <a:lstStyle/>
          <a:p>
            <a:pPr algn="l" marL="0" indent="0" lvl="0">
              <a:lnSpc>
                <a:spcPts val="9449"/>
              </a:lnSpc>
            </a:pPr>
            <a:r>
              <a:rPr lang="en-US" sz="8999" spc="-224" u="none">
                <a:solidFill>
                  <a:srgbClr val="000000"/>
                </a:solidFill>
                <a:latin typeface="Times New Roman MT"/>
                <a:ea typeface="Times New Roman MT"/>
                <a:cs typeface="Times New Roman MT"/>
                <a:sym typeface="Times New Roman MT"/>
              </a:rPr>
              <a:t>Our objectives</a:t>
            </a:r>
          </a:p>
        </p:txBody>
      </p:sp>
      <p:sp>
        <p:nvSpPr>
          <p:cNvPr name="TextBox 3" id="3"/>
          <p:cNvSpPr txBox="true"/>
          <p:nvPr/>
        </p:nvSpPr>
        <p:spPr>
          <a:xfrm rot="0">
            <a:off x="17259300" y="9172575"/>
            <a:ext cx="152400" cy="238125"/>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Akzidenz-Grotesk"/>
                <a:ea typeface="Akzidenz-Grotesk"/>
                <a:cs typeface="Akzidenz-Grotesk"/>
                <a:sym typeface="Akzidenz-Grotesk"/>
              </a:rPr>
              <a:t>5</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577770"/>
            <a:chOff x="0" y="0"/>
            <a:chExt cx="4816593" cy="678919"/>
          </a:xfrm>
        </p:grpSpPr>
        <p:sp>
          <p:nvSpPr>
            <p:cNvPr name="Freeform 3" id="3"/>
            <p:cNvSpPr/>
            <p:nvPr/>
          </p:nvSpPr>
          <p:spPr>
            <a:xfrm flipH="false" flipV="false" rot="0">
              <a:off x="0" y="0"/>
              <a:ext cx="4816592" cy="678919"/>
            </a:xfrm>
            <a:custGeom>
              <a:avLst/>
              <a:gdLst/>
              <a:ahLst/>
              <a:cxnLst/>
              <a:rect r="r" b="b" t="t" l="l"/>
              <a:pathLst>
                <a:path h="678919" w="4816592">
                  <a:moveTo>
                    <a:pt x="0" y="0"/>
                  </a:moveTo>
                  <a:lnTo>
                    <a:pt x="4816592" y="0"/>
                  </a:lnTo>
                  <a:lnTo>
                    <a:pt x="4816592" y="678919"/>
                  </a:lnTo>
                  <a:lnTo>
                    <a:pt x="0" y="678919"/>
                  </a:lnTo>
                  <a:close/>
                </a:path>
              </a:pathLst>
            </a:custGeom>
            <a:solidFill>
              <a:srgbClr val="646464"/>
            </a:solidFill>
          </p:spPr>
        </p:sp>
        <p:sp>
          <p:nvSpPr>
            <p:cNvPr name="TextBox 4" id="4"/>
            <p:cNvSpPr txBox="true"/>
            <p:nvPr/>
          </p:nvSpPr>
          <p:spPr>
            <a:xfrm>
              <a:off x="0" y="-76200"/>
              <a:ext cx="4816593" cy="755119"/>
            </a:xfrm>
            <a:prstGeom prst="rect">
              <a:avLst/>
            </a:prstGeom>
          </p:spPr>
          <p:txBody>
            <a:bodyPr anchor="ctr" rtlCol="false" tIns="50800" lIns="50800" bIns="50800" rIns="50800"/>
            <a:lstStyle/>
            <a:p>
              <a:pPr algn="ctr">
                <a:lnSpc>
                  <a:spcPts val="2239"/>
                </a:lnSpc>
              </a:pPr>
            </a:p>
          </p:txBody>
        </p:sp>
      </p:grpSp>
      <p:grpSp>
        <p:nvGrpSpPr>
          <p:cNvPr name="Group 5" id="5"/>
          <p:cNvGrpSpPr/>
          <p:nvPr/>
        </p:nvGrpSpPr>
        <p:grpSpPr>
          <a:xfrm rot="0">
            <a:off x="0" y="1148812"/>
            <a:ext cx="18288000" cy="4001801"/>
            <a:chOff x="0" y="0"/>
            <a:chExt cx="24384000" cy="5335735"/>
          </a:xfrm>
        </p:grpSpPr>
        <p:grpSp>
          <p:nvGrpSpPr>
            <p:cNvPr name="Group 6" id="6"/>
            <p:cNvGrpSpPr/>
            <p:nvPr/>
          </p:nvGrpSpPr>
          <p:grpSpPr>
            <a:xfrm rot="0">
              <a:off x="0" y="1898708"/>
              <a:ext cx="24384000" cy="3437027"/>
              <a:chOff x="0" y="0"/>
              <a:chExt cx="4816593" cy="678919"/>
            </a:xfrm>
          </p:grpSpPr>
          <p:sp>
            <p:nvSpPr>
              <p:cNvPr name="Freeform 7" id="7"/>
              <p:cNvSpPr/>
              <p:nvPr/>
            </p:nvSpPr>
            <p:spPr>
              <a:xfrm flipH="false" flipV="false" rot="0">
                <a:off x="0" y="0"/>
                <a:ext cx="4816592" cy="678919"/>
              </a:xfrm>
              <a:custGeom>
                <a:avLst/>
                <a:gdLst/>
                <a:ahLst/>
                <a:cxnLst/>
                <a:rect r="r" b="b" t="t" l="l"/>
                <a:pathLst>
                  <a:path h="678919" w="4816592">
                    <a:moveTo>
                      <a:pt x="0" y="0"/>
                    </a:moveTo>
                    <a:lnTo>
                      <a:pt x="4816592" y="0"/>
                    </a:lnTo>
                    <a:lnTo>
                      <a:pt x="4816592" y="678919"/>
                    </a:lnTo>
                    <a:lnTo>
                      <a:pt x="0" y="678919"/>
                    </a:lnTo>
                    <a:close/>
                  </a:path>
                </a:pathLst>
              </a:custGeom>
              <a:solidFill>
                <a:srgbClr val="A8A8A8"/>
              </a:solidFill>
            </p:spPr>
          </p:sp>
          <p:sp>
            <p:nvSpPr>
              <p:cNvPr name="TextBox 8" id="8"/>
              <p:cNvSpPr txBox="true"/>
              <p:nvPr/>
            </p:nvSpPr>
            <p:spPr>
              <a:xfrm>
                <a:off x="0" y="-76200"/>
                <a:ext cx="4816593" cy="755119"/>
              </a:xfrm>
              <a:prstGeom prst="rect">
                <a:avLst/>
              </a:prstGeom>
            </p:spPr>
            <p:txBody>
              <a:bodyPr anchor="ctr" rtlCol="false" tIns="50800" lIns="50800" bIns="50800" rIns="50800"/>
              <a:lstStyle/>
              <a:p>
                <a:pPr algn="ctr">
                  <a:lnSpc>
                    <a:spcPts val="2239"/>
                  </a:lnSpc>
                </a:pPr>
              </a:p>
            </p:txBody>
          </p:sp>
        </p:grpSp>
        <p:grpSp>
          <p:nvGrpSpPr>
            <p:cNvPr name="Group 9" id="9"/>
            <p:cNvGrpSpPr/>
            <p:nvPr/>
          </p:nvGrpSpPr>
          <p:grpSpPr>
            <a:xfrm rot="-5400000">
              <a:off x="22432523" y="-42423"/>
              <a:ext cx="1909053" cy="1993900"/>
              <a:chOff x="0" y="0"/>
              <a:chExt cx="571500" cy="596900"/>
            </a:xfrm>
          </p:grpSpPr>
          <p:sp>
            <p:nvSpPr>
              <p:cNvPr name="Freeform 10" id="10"/>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A8A8A8"/>
              </a:solidFill>
            </p:spPr>
          </p:sp>
          <p:sp>
            <p:nvSpPr>
              <p:cNvPr name="TextBox 11" id="11"/>
              <p:cNvSpPr txBox="true"/>
              <p:nvPr/>
            </p:nvSpPr>
            <p:spPr>
              <a:xfrm>
                <a:off x="0" y="222250"/>
                <a:ext cx="285750" cy="373380"/>
              </a:xfrm>
              <a:prstGeom prst="rect">
                <a:avLst/>
              </a:prstGeom>
            </p:spPr>
            <p:txBody>
              <a:bodyPr anchor="ctr" rtlCol="false" tIns="50800" lIns="50800" bIns="50800" rIns="50800"/>
              <a:lstStyle/>
              <a:p>
                <a:pPr algn="ctr">
                  <a:lnSpc>
                    <a:spcPts val="2239"/>
                  </a:lnSpc>
                </a:pPr>
              </a:p>
            </p:txBody>
          </p:sp>
        </p:grpSp>
      </p:grpSp>
      <p:grpSp>
        <p:nvGrpSpPr>
          <p:cNvPr name="Group 12" id="12"/>
          <p:cNvGrpSpPr/>
          <p:nvPr/>
        </p:nvGrpSpPr>
        <p:grpSpPr>
          <a:xfrm rot="0">
            <a:off x="0" y="3728348"/>
            <a:ext cx="18288000" cy="3990458"/>
            <a:chOff x="0" y="0"/>
            <a:chExt cx="24384000" cy="5320611"/>
          </a:xfrm>
        </p:grpSpPr>
        <p:grpSp>
          <p:nvGrpSpPr>
            <p:cNvPr name="Group 13" id="13"/>
            <p:cNvGrpSpPr/>
            <p:nvPr/>
          </p:nvGrpSpPr>
          <p:grpSpPr>
            <a:xfrm rot="0">
              <a:off x="0" y="1883584"/>
              <a:ext cx="24384000" cy="3437027"/>
              <a:chOff x="0" y="0"/>
              <a:chExt cx="4816593" cy="678919"/>
            </a:xfrm>
          </p:grpSpPr>
          <p:sp>
            <p:nvSpPr>
              <p:cNvPr name="Freeform 14" id="14"/>
              <p:cNvSpPr/>
              <p:nvPr/>
            </p:nvSpPr>
            <p:spPr>
              <a:xfrm flipH="false" flipV="false" rot="0">
                <a:off x="0" y="0"/>
                <a:ext cx="4816592" cy="678919"/>
              </a:xfrm>
              <a:custGeom>
                <a:avLst/>
                <a:gdLst/>
                <a:ahLst/>
                <a:cxnLst/>
                <a:rect r="r" b="b" t="t" l="l"/>
                <a:pathLst>
                  <a:path h="678919" w="4816592">
                    <a:moveTo>
                      <a:pt x="0" y="0"/>
                    </a:moveTo>
                    <a:lnTo>
                      <a:pt x="4816592" y="0"/>
                    </a:lnTo>
                    <a:lnTo>
                      <a:pt x="4816592" y="678919"/>
                    </a:lnTo>
                    <a:lnTo>
                      <a:pt x="0" y="678919"/>
                    </a:lnTo>
                    <a:close/>
                  </a:path>
                </a:pathLst>
              </a:custGeom>
              <a:solidFill>
                <a:srgbClr val="FFDD54"/>
              </a:solidFill>
            </p:spPr>
          </p:sp>
          <p:sp>
            <p:nvSpPr>
              <p:cNvPr name="TextBox 15" id="15"/>
              <p:cNvSpPr txBox="true"/>
              <p:nvPr/>
            </p:nvSpPr>
            <p:spPr>
              <a:xfrm>
                <a:off x="0" y="-76200"/>
                <a:ext cx="4816593" cy="755119"/>
              </a:xfrm>
              <a:prstGeom prst="rect">
                <a:avLst/>
              </a:prstGeom>
            </p:spPr>
            <p:txBody>
              <a:bodyPr anchor="ctr" rtlCol="false" tIns="50800" lIns="50800" bIns="50800" rIns="50800"/>
              <a:lstStyle/>
              <a:p>
                <a:pPr algn="ctr">
                  <a:lnSpc>
                    <a:spcPts val="2239"/>
                  </a:lnSpc>
                </a:pPr>
              </a:p>
            </p:txBody>
          </p:sp>
        </p:grpSp>
        <p:grpSp>
          <p:nvGrpSpPr>
            <p:cNvPr name="Group 16" id="16"/>
            <p:cNvGrpSpPr/>
            <p:nvPr/>
          </p:nvGrpSpPr>
          <p:grpSpPr>
            <a:xfrm rot="-5400000">
              <a:off x="22432523" y="-42423"/>
              <a:ext cx="1909053" cy="1993900"/>
              <a:chOff x="0" y="0"/>
              <a:chExt cx="571500" cy="596900"/>
            </a:xfrm>
          </p:grpSpPr>
          <p:sp>
            <p:nvSpPr>
              <p:cNvPr name="Freeform 17" id="17"/>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FDD54"/>
              </a:solidFill>
            </p:spPr>
          </p:sp>
          <p:sp>
            <p:nvSpPr>
              <p:cNvPr name="TextBox 18" id="18"/>
              <p:cNvSpPr txBox="true"/>
              <p:nvPr/>
            </p:nvSpPr>
            <p:spPr>
              <a:xfrm>
                <a:off x="0" y="222250"/>
                <a:ext cx="285750" cy="373380"/>
              </a:xfrm>
              <a:prstGeom prst="rect">
                <a:avLst/>
              </a:prstGeom>
            </p:spPr>
            <p:txBody>
              <a:bodyPr anchor="ctr" rtlCol="false" tIns="50800" lIns="50800" bIns="50800" rIns="50800"/>
              <a:lstStyle/>
              <a:p>
                <a:pPr algn="ctr">
                  <a:lnSpc>
                    <a:spcPts val="2239"/>
                  </a:lnSpc>
                </a:pPr>
              </a:p>
            </p:txBody>
          </p:sp>
        </p:grpSp>
      </p:grpSp>
      <p:grpSp>
        <p:nvGrpSpPr>
          <p:cNvPr name="Group 19" id="19"/>
          <p:cNvGrpSpPr/>
          <p:nvPr/>
        </p:nvGrpSpPr>
        <p:grpSpPr>
          <a:xfrm rot="0">
            <a:off x="0" y="6287017"/>
            <a:ext cx="18288000" cy="3999983"/>
            <a:chOff x="0" y="0"/>
            <a:chExt cx="24384000" cy="5333311"/>
          </a:xfrm>
        </p:grpSpPr>
        <p:grpSp>
          <p:nvGrpSpPr>
            <p:cNvPr name="Group 20" id="20"/>
            <p:cNvGrpSpPr/>
            <p:nvPr/>
          </p:nvGrpSpPr>
          <p:grpSpPr>
            <a:xfrm rot="0">
              <a:off x="0" y="1896284"/>
              <a:ext cx="24384000" cy="3437027"/>
              <a:chOff x="0" y="0"/>
              <a:chExt cx="4816593" cy="678919"/>
            </a:xfrm>
          </p:grpSpPr>
          <p:sp>
            <p:nvSpPr>
              <p:cNvPr name="Freeform 21" id="21"/>
              <p:cNvSpPr/>
              <p:nvPr/>
            </p:nvSpPr>
            <p:spPr>
              <a:xfrm flipH="false" flipV="false" rot="0">
                <a:off x="0" y="0"/>
                <a:ext cx="4816592" cy="678919"/>
              </a:xfrm>
              <a:custGeom>
                <a:avLst/>
                <a:gdLst/>
                <a:ahLst/>
                <a:cxnLst/>
                <a:rect r="r" b="b" t="t" l="l"/>
                <a:pathLst>
                  <a:path h="678919" w="4816592">
                    <a:moveTo>
                      <a:pt x="0" y="0"/>
                    </a:moveTo>
                    <a:lnTo>
                      <a:pt x="4816592" y="0"/>
                    </a:lnTo>
                    <a:lnTo>
                      <a:pt x="4816592" y="678919"/>
                    </a:lnTo>
                    <a:lnTo>
                      <a:pt x="0" y="678919"/>
                    </a:lnTo>
                    <a:close/>
                  </a:path>
                </a:pathLst>
              </a:custGeom>
              <a:solidFill>
                <a:srgbClr val="F5F5F5"/>
              </a:solidFill>
            </p:spPr>
          </p:sp>
          <p:sp>
            <p:nvSpPr>
              <p:cNvPr name="TextBox 22" id="22"/>
              <p:cNvSpPr txBox="true"/>
              <p:nvPr/>
            </p:nvSpPr>
            <p:spPr>
              <a:xfrm>
                <a:off x="0" y="-76200"/>
                <a:ext cx="4816593" cy="755119"/>
              </a:xfrm>
              <a:prstGeom prst="rect">
                <a:avLst/>
              </a:prstGeom>
            </p:spPr>
            <p:txBody>
              <a:bodyPr anchor="ctr" rtlCol="false" tIns="50800" lIns="50800" bIns="50800" rIns="50800"/>
              <a:lstStyle/>
              <a:p>
                <a:pPr algn="ctr">
                  <a:lnSpc>
                    <a:spcPts val="2239"/>
                  </a:lnSpc>
                </a:pPr>
              </a:p>
            </p:txBody>
          </p:sp>
        </p:grpSp>
        <p:grpSp>
          <p:nvGrpSpPr>
            <p:cNvPr name="Group 23" id="23"/>
            <p:cNvGrpSpPr/>
            <p:nvPr/>
          </p:nvGrpSpPr>
          <p:grpSpPr>
            <a:xfrm rot="-5400000">
              <a:off x="22432523" y="-42423"/>
              <a:ext cx="1909053" cy="1993900"/>
              <a:chOff x="0" y="0"/>
              <a:chExt cx="571500" cy="596900"/>
            </a:xfrm>
          </p:grpSpPr>
          <p:sp>
            <p:nvSpPr>
              <p:cNvPr name="Freeform 24" id="24"/>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5F5F5"/>
              </a:solidFill>
            </p:spPr>
          </p:sp>
          <p:sp>
            <p:nvSpPr>
              <p:cNvPr name="TextBox 25" id="25"/>
              <p:cNvSpPr txBox="true"/>
              <p:nvPr/>
            </p:nvSpPr>
            <p:spPr>
              <a:xfrm>
                <a:off x="0" y="222250"/>
                <a:ext cx="285750" cy="373380"/>
              </a:xfrm>
              <a:prstGeom prst="rect">
                <a:avLst/>
              </a:prstGeom>
            </p:spPr>
            <p:txBody>
              <a:bodyPr anchor="ctr" rtlCol="false" tIns="50800" lIns="50800" bIns="50800" rIns="50800"/>
              <a:lstStyle/>
              <a:p>
                <a:pPr algn="ctr">
                  <a:lnSpc>
                    <a:spcPts val="2239"/>
                  </a:lnSpc>
                </a:pPr>
              </a:p>
            </p:txBody>
          </p:sp>
        </p:grpSp>
      </p:grpSp>
      <p:sp>
        <p:nvSpPr>
          <p:cNvPr name="TextBox 26" id="26"/>
          <p:cNvSpPr txBox="true"/>
          <p:nvPr/>
        </p:nvSpPr>
        <p:spPr>
          <a:xfrm rot="0">
            <a:off x="3227869" y="805942"/>
            <a:ext cx="12983818" cy="1152525"/>
          </a:xfrm>
          <a:prstGeom prst="rect">
            <a:avLst/>
          </a:prstGeom>
        </p:spPr>
        <p:txBody>
          <a:bodyPr anchor="t" rtlCol="false" tIns="0" lIns="0" bIns="0" rIns="0">
            <a:spAutoFit/>
          </a:bodyPr>
          <a:lstStyle/>
          <a:p>
            <a:pPr algn="l" marL="0" indent="0" lvl="0">
              <a:lnSpc>
                <a:spcPts val="4320"/>
              </a:lnSpc>
              <a:spcBef>
                <a:spcPct val="0"/>
              </a:spcBef>
            </a:pPr>
            <a:r>
              <a:rPr lang="en-US" sz="3600">
                <a:solidFill>
                  <a:srgbClr val="F5F5F5"/>
                </a:solidFill>
                <a:latin typeface="Akzidenz-Grotesk"/>
                <a:ea typeface="Akzidenz-Grotesk"/>
                <a:cs typeface="Akzidenz-Grotesk"/>
                <a:sym typeface="Akzidenz-Grotesk"/>
              </a:rPr>
              <a:t>To a</a:t>
            </a:r>
            <a:r>
              <a:rPr lang="en-US" sz="3600">
                <a:solidFill>
                  <a:srgbClr val="F5F5F5"/>
                </a:solidFill>
                <a:latin typeface="Akzidenz-Grotesk"/>
                <a:ea typeface="Akzidenz-Grotesk"/>
                <a:cs typeface="Akzidenz-Grotesk"/>
                <a:sym typeface="Akzidenz-Grotesk"/>
              </a:rPr>
              <a:t>nalyze the health and lifestyle dataset and identify key features that influence an individual's health status.</a:t>
            </a:r>
          </a:p>
        </p:txBody>
      </p:sp>
      <p:sp>
        <p:nvSpPr>
          <p:cNvPr name="TextBox 27" id="27"/>
          <p:cNvSpPr txBox="true"/>
          <p:nvPr/>
        </p:nvSpPr>
        <p:spPr>
          <a:xfrm rot="0">
            <a:off x="4914870" y="3290228"/>
            <a:ext cx="11877705" cy="1162050"/>
          </a:xfrm>
          <a:prstGeom prst="rect">
            <a:avLst/>
          </a:prstGeom>
        </p:spPr>
        <p:txBody>
          <a:bodyPr anchor="t" rtlCol="false" tIns="0" lIns="0" bIns="0" rIns="0">
            <a:spAutoFit/>
          </a:bodyPr>
          <a:lstStyle/>
          <a:p>
            <a:pPr algn="l" marL="0" indent="0" lvl="0">
              <a:lnSpc>
                <a:spcPts val="4319"/>
              </a:lnSpc>
              <a:spcBef>
                <a:spcPct val="0"/>
              </a:spcBef>
            </a:pPr>
            <a:r>
              <a:rPr lang="en-US" sz="3599" spc="-107">
                <a:solidFill>
                  <a:srgbClr val="000000"/>
                </a:solidFill>
                <a:latin typeface="Times New Roman MT"/>
                <a:ea typeface="Times New Roman MT"/>
                <a:cs typeface="Times New Roman MT"/>
                <a:sym typeface="Times New Roman MT"/>
              </a:rPr>
              <a:t>T</a:t>
            </a:r>
            <a:r>
              <a:rPr lang="en-US" sz="3599" spc="-107" u="none">
                <a:solidFill>
                  <a:srgbClr val="000000"/>
                </a:solidFill>
                <a:latin typeface="Times New Roman MT"/>
                <a:ea typeface="Times New Roman MT"/>
                <a:cs typeface="Times New Roman MT"/>
                <a:sym typeface="Times New Roman MT"/>
              </a:rPr>
              <a:t>o preprocess the dataset using label encoding and standard scaling techniques for improved model performance.</a:t>
            </a:r>
          </a:p>
        </p:txBody>
      </p:sp>
      <p:sp>
        <p:nvSpPr>
          <p:cNvPr name="TextBox 28" id="28"/>
          <p:cNvSpPr txBox="true"/>
          <p:nvPr/>
        </p:nvSpPr>
        <p:spPr>
          <a:xfrm rot="0">
            <a:off x="5476596" y="5325022"/>
            <a:ext cx="11315979" cy="2247900"/>
          </a:xfrm>
          <a:prstGeom prst="rect">
            <a:avLst/>
          </a:prstGeom>
        </p:spPr>
        <p:txBody>
          <a:bodyPr anchor="t" rtlCol="false" tIns="0" lIns="0" bIns="0" rIns="0">
            <a:spAutoFit/>
          </a:bodyPr>
          <a:lstStyle/>
          <a:p>
            <a:pPr algn="l">
              <a:lnSpc>
                <a:spcPts val="4319"/>
              </a:lnSpc>
              <a:spcBef>
                <a:spcPct val="0"/>
              </a:spcBef>
            </a:pPr>
            <a:r>
              <a:rPr lang="en-US" sz="3599" spc="-107">
                <a:solidFill>
                  <a:srgbClr val="000000"/>
                </a:solidFill>
                <a:latin typeface="Times New Roman MT"/>
                <a:ea typeface="Times New Roman MT"/>
                <a:cs typeface="Times New Roman MT"/>
                <a:sym typeface="Times New Roman MT"/>
              </a:rPr>
              <a:t>To de</a:t>
            </a:r>
            <a:r>
              <a:rPr lang="en-US" sz="3599" spc="-107" u="none">
                <a:solidFill>
                  <a:srgbClr val="000000"/>
                </a:solidFill>
                <a:latin typeface="Times New Roman MT"/>
                <a:ea typeface="Times New Roman MT"/>
                <a:cs typeface="Times New Roman MT"/>
                <a:sym typeface="Times New Roman MT"/>
              </a:rPr>
              <a:t>velop an Artificial Neural Network (ANN) model capable of predicting health outcomes based on lifestyle patterns.</a:t>
            </a:r>
          </a:p>
          <a:p>
            <a:pPr algn="l" marL="0" indent="0" lvl="0">
              <a:lnSpc>
                <a:spcPts val="4319"/>
              </a:lnSpc>
              <a:spcBef>
                <a:spcPct val="0"/>
              </a:spcBef>
            </a:pPr>
          </a:p>
        </p:txBody>
      </p:sp>
      <p:sp>
        <p:nvSpPr>
          <p:cNvPr name="TextBox 29" id="29"/>
          <p:cNvSpPr txBox="true"/>
          <p:nvPr/>
        </p:nvSpPr>
        <p:spPr>
          <a:xfrm rot="0">
            <a:off x="7302937" y="8107527"/>
            <a:ext cx="9489638" cy="1704975"/>
          </a:xfrm>
          <a:prstGeom prst="rect">
            <a:avLst/>
          </a:prstGeom>
        </p:spPr>
        <p:txBody>
          <a:bodyPr anchor="t" rtlCol="false" tIns="0" lIns="0" bIns="0" rIns="0">
            <a:spAutoFit/>
          </a:bodyPr>
          <a:lstStyle/>
          <a:p>
            <a:pPr algn="l">
              <a:lnSpc>
                <a:spcPts val="4319"/>
              </a:lnSpc>
            </a:pPr>
            <a:r>
              <a:rPr lang="en-US" sz="3599" spc="-107">
                <a:solidFill>
                  <a:srgbClr val="000000"/>
                </a:solidFill>
                <a:latin typeface="Times New Roman MT"/>
                <a:ea typeface="Times New Roman MT"/>
                <a:cs typeface="Times New Roman MT"/>
                <a:sym typeface="Times New Roman MT"/>
              </a:rPr>
              <a:t>To provide insights into how deep </a:t>
            </a:r>
            <a:r>
              <a:rPr lang="en-US" sz="3599" spc="-107" u="none">
                <a:solidFill>
                  <a:srgbClr val="000000"/>
                </a:solidFill>
                <a:latin typeface="Times New Roman MT"/>
                <a:ea typeface="Times New Roman MT"/>
                <a:cs typeface="Times New Roman MT"/>
                <a:sym typeface="Times New Roman MT"/>
              </a:rPr>
              <a:t>learning can help in health monitoring and lifestyle improvement.</a:t>
            </a:r>
          </a:p>
          <a:p>
            <a:pPr algn="l" marL="0" indent="0" lvl="0">
              <a:lnSpc>
                <a:spcPts val="4319"/>
              </a:lnSpc>
              <a:spcBef>
                <a:spcPct val="0"/>
              </a:spcBef>
            </a:pPr>
          </a:p>
        </p:txBody>
      </p:sp>
      <p:sp>
        <p:nvSpPr>
          <p:cNvPr name="TextBox 30" id="30"/>
          <p:cNvSpPr txBox="true"/>
          <p:nvPr/>
        </p:nvSpPr>
        <p:spPr>
          <a:xfrm rot="0">
            <a:off x="1028700" y="549808"/>
            <a:ext cx="1768870" cy="1971859"/>
          </a:xfrm>
          <a:prstGeom prst="rect">
            <a:avLst/>
          </a:prstGeom>
        </p:spPr>
        <p:txBody>
          <a:bodyPr anchor="t" rtlCol="false" tIns="0" lIns="0" bIns="0" rIns="0">
            <a:spAutoFit/>
          </a:bodyPr>
          <a:lstStyle/>
          <a:p>
            <a:pPr algn="l" marL="0" indent="0" lvl="0">
              <a:lnSpc>
                <a:spcPts val="13135"/>
              </a:lnSpc>
            </a:pPr>
            <a:r>
              <a:rPr lang="en-US" sz="12509" i="true" spc="-312">
                <a:solidFill>
                  <a:srgbClr val="F5F5F5"/>
                </a:solidFill>
                <a:latin typeface="Times New Roman MT Italics"/>
                <a:ea typeface="Times New Roman MT Italics"/>
                <a:cs typeface="Times New Roman MT Italics"/>
                <a:sym typeface="Times New Roman MT Italics"/>
              </a:rPr>
              <a:t>01</a:t>
            </a:r>
          </a:p>
        </p:txBody>
      </p:sp>
      <p:sp>
        <p:nvSpPr>
          <p:cNvPr name="TextBox 31" id="31"/>
          <p:cNvSpPr txBox="true"/>
          <p:nvPr/>
        </p:nvSpPr>
        <p:spPr>
          <a:xfrm rot="0">
            <a:off x="2179843" y="2966286"/>
            <a:ext cx="1802677" cy="1971859"/>
          </a:xfrm>
          <a:prstGeom prst="rect">
            <a:avLst/>
          </a:prstGeom>
        </p:spPr>
        <p:txBody>
          <a:bodyPr anchor="t" rtlCol="false" tIns="0" lIns="0" bIns="0" rIns="0">
            <a:spAutoFit/>
          </a:bodyPr>
          <a:lstStyle/>
          <a:p>
            <a:pPr algn="l" marL="0" indent="0" lvl="0">
              <a:lnSpc>
                <a:spcPts val="13135"/>
              </a:lnSpc>
            </a:pPr>
            <a:r>
              <a:rPr lang="en-US" sz="12509" i="true" spc="-312">
                <a:solidFill>
                  <a:srgbClr val="000000"/>
                </a:solidFill>
                <a:latin typeface="Times New Roman MT Italics"/>
                <a:ea typeface="Times New Roman MT Italics"/>
                <a:cs typeface="Times New Roman MT Italics"/>
                <a:sym typeface="Times New Roman MT Italics"/>
              </a:rPr>
              <a:t>02</a:t>
            </a:r>
          </a:p>
        </p:txBody>
      </p:sp>
      <p:sp>
        <p:nvSpPr>
          <p:cNvPr name="TextBox 32" id="32"/>
          <p:cNvSpPr txBox="true"/>
          <p:nvPr/>
        </p:nvSpPr>
        <p:spPr>
          <a:xfrm rot="0">
            <a:off x="3227869" y="5550663"/>
            <a:ext cx="1687002" cy="1971859"/>
          </a:xfrm>
          <a:prstGeom prst="rect">
            <a:avLst/>
          </a:prstGeom>
        </p:spPr>
        <p:txBody>
          <a:bodyPr anchor="t" rtlCol="false" tIns="0" lIns="0" bIns="0" rIns="0">
            <a:spAutoFit/>
          </a:bodyPr>
          <a:lstStyle/>
          <a:p>
            <a:pPr algn="l" marL="0" indent="0" lvl="0">
              <a:lnSpc>
                <a:spcPts val="13135"/>
              </a:lnSpc>
            </a:pPr>
            <a:r>
              <a:rPr lang="en-US" sz="12509" i="true" spc="-312">
                <a:solidFill>
                  <a:srgbClr val="000000"/>
                </a:solidFill>
                <a:latin typeface="Times New Roman MT Italics"/>
                <a:ea typeface="Times New Roman MT Italics"/>
                <a:cs typeface="Times New Roman MT Italics"/>
                <a:sym typeface="Times New Roman MT Italics"/>
              </a:rPr>
              <a:t>03</a:t>
            </a:r>
          </a:p>
        </p:txBody>
      </p:sp>
      <p:sp>
        <p:nvSpPr>
          <p:cNvPr name="TextBox 33" id="33"/>
          <p:cNvSpPr txBox="true"/>
          <p:nvPr/>
        </p:nvSpPr>
        <p:spPr>
          <a:xfrm rot="0">
            <a:off x="4737145" y="8102673"/>
            <a:ext cx="1809854" cy="1971859"/>
          </a:xfrm>
          <a:prstGeom prst="rect">
            <a:avLst/>
          </a:prstGeom>
        </p:spPr>
        <p:txBody>
          <a:bodyPr anchor="t" rtlCol="false" tIns="0" lIns="0" bIns="0" rIns="0">
            <a:spAutoFit/>
          </a:bodyPr>
          <a:lstStyle/>
          <a:p>
            <a:pPr algn="l" marL="0" indent="0" lvl="0">
              <a:lnSpc>
                <a:spcPts val="13135"/>
              </a:lnSpc>
            </a:pPr>
            <a:r>
              <a:rPr lang="en-US" sz="12509" i="true" spc="-312">
                <a:solidFill>
                  <a:srgbClr val="000000"/>
                </a:solidFill>
                <a:latin typeface="Times New Roman MT Italics"/>
                <a:ea typeface="Times New Roman MT Italics"/>
                <a:cs typeface="Times New Roman MT Italics"/>
                <a:sym typeface="Times New Roman MT Italics"/>
              </a:rPr>
              <a:t>04</a:t>
            </a:r>
          </a:p>
        </p:txBody>
      </p:sp>
      <p:sp>
        <p:nvSpPr>
          <p:cNvPr name="TextBox 34" id="34"/>
          <p:cNvSpPr txBox="true"/>
          <p:nvPr/>
        </p:nvSpPr>
        <p:spPr>
          <a:xfrm rot="0">
            <a:off x="17259300" y="9172575"/>
            <a:ext cx="152400" cy="238125"/>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Akzidenz-Grotesk"/>
                <a:ea typeface="Akzidenz-Grotesk"/>
                <a:cs typeface="Akzidenz-Grotesk"/>
                <a:sym typeface="Akzidenz-Grotesk"/>
              </a:rPr>
              <a:t>6</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4046966" y="4241034"/>
            <a:ext cx="4285585" cy="6045966"/>
            <a:chOff x="0" y="0"/>
            <a:chExt cx="1128714" cy="1592353"/>
          </a:xfrm>
        </p:grpSpPr>
        <p:sp>
          <p:nvSpPr>
            <p:cNvPr name="Freeform 3" id="3"/>
            <p:cNvSpPr/>
            <p:nvPr/>
          </p:nvSpPr>
          <p:spPr>
            <a:xfrm flipH="false" flipV="false" rot="0">
              <a:off x="0" y="0"/>
              <a:ext cx="1128714" cy="1592353"/>
            </a:xfrm>
            <a:custGeom>
              <a:avLst/>
              <a:gdLst/>
              <a:ahLst/>
              <a:cxnLst/>
              <a:rect r="r" b="b" t="t" l="l"/>
              <a:pathLst>
                <a:path h="1592353" w="1128714">
                  <a:moveTo>
                    <a:pt x="0" y="0"/>
                  </a:moveTo>
                  <a:lnTo>
                    <a:pt x="1128714" y="0"/>
                  </a:lnTo>
                  <a:lnTo>
                    <a:pt x="1128714" y="1592353"/>
                  </a:lnTo>
                  <a:lnTo>
                    <a:pt x="0" y="1592353"/>
                  </a:lnTo>
                  <a:close/>
                </a:path>
              </a:pathLst>
            </a:custGeom>
            <a:solidFill>
              <a:srgbClr val="FFDD54"/>
            </a:solidFill>
          </p:spPr>
        </p:sp>
        <p:sp>
          <p:nvSpPr>
            <p:cNvPr name="TextBox 4" id="4"/>
            <p:cNvSpPr txBox="true"/>
            <p:nvPr/>
          </p:nvSpPr>
          <p:spPr>
            <a:xfrm>
              <a:off x="0" y="-76200"/>
              <a:ext cx="1128714" cy="1668553"/>
            </a:xfrm>
            <a:prstGeom prst="rect">
              <a:avLst/>
            </a:prstGeom>
          </p:spPr>
          <p:txBody>
            <a:bodyPr anchor="ctr" rtlCol="false" tIns="50800" lIns="50800" bIns="50800" rIns="50800"/>
            <a:lstStyle/>
            <a:p>
              <a:pPr algn="ctr">
                <a:lnSpc>
                  <a:spcPts val="2239"/>
                </a:lnSpc>
              </a:pPr>
            </a:p>
          </p:txBody>
        </p:sp>
      </p:grpSp>
      <p:sp>
        <p:nvSpPr>
          <p:cNvPr name="TextBox 5" id="5"/>
          <p:cNvSpPr txBox="true"/>
          <p:nvPr/>
        </p:nvSpPr>
        <p:spPr>
          <a:xfrm rot="0">
            <a:off x="3201854" y="4414838"/>
            <a:ext cx="9194161" cy="1409698"/>
          </a:xfrm>
          <a:prstGeom prst="rect">
            <a:avLst/>
          </a:prstGeom>
        </p:spPr>
        <p:txBody>
          <a:bodyPr anchor="t" rtlCol="false" tIns="0" lIns="0" bIns="0" rIns="0">
            <a:spAutoFit/>
          </a:bodyPr>
          <a:lstStyle/>
          <a:p>
            <a:pPr algn="l" marL="0" indent="0" lvl="0">
              <a:lnSpc>
                <a:spcPts val="9449"/>
              </a:lnSpc>
            </a:pPr>
            <a:r>
              <a:rPr lang="en-US" sz="8999" spc="-224" u="none">
                <a:solidFill>
                  <a:srgbClr val="000000"/>
                </a:solidFill>
                <a:latin typeface="Times New Roman MT"/>
                <a:ea typeface="Times New Roman MT"/>
                <a:cs typeface="Times New Roman MT"/>
                <a:sym typeface="Times New Roman MT"/>
              </a:rPr>
              <a:t>Key </a:t>
            </a:r>
            <a:r>
              <a:rPr lang="en-US" sz="8999" i="true" spc="-224" u="none">
                <a:solidFill>
                  <a:srgbClr val="000000"/>
                </a:solidFill>
                <a:latin typeface="Times New Roman MT Italics"/>
                <a:ea typeface="Times New Roman MT Italics"/>
                <a:cs typeface="Times New Roman MT Italics"/>
                <a:sym typeface="Times New Roman MT Italics"/>
              </a:rPr>
              <a:t>results</a:t>
            </a:r>
          </a:p>
        </p:txBody>
      </p:sp>
      <p:sp>
        <p:nvSpPr>
          <p:cNvPr name="TextBox 6" id="6"/>
          <p:cNvSpPr txBox="true"/>
          <p:nvPr/>
        </p:nvSpPr>
        <p:spPr>
          <a:xfrm rot="0">
            <a:off x="17259300" y="9172575"/>
            <a:ext cx="152400" cy="238125"/>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Akzidenz-Grotesk"/>
                <a:ea typeface="Akzidenz-Grotesk"/>
                <a:cs typeface="Akzidenz-Grotesk"/>
                <a:sym typeface="Akzidenz-Grotesk"/>
              </a:rPr>
              <a:t>7</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0" y="0"/>
            <a:ext cx="5619310" cy="10287000"/>
            <a:chOff x="0" y="0"/>
            <a:chExt cx="1479983" cy="2709333"/>
          </a:xfrm>
        </p:grpSpPr>
        <p:sp>
          <p:nvSpPr>
            <p:cNvPr name="Freeform 3" id="3"/>
            <p:cNvSpPr/>
            <p:nvPr/>
          </p:nvSpPr>
          <p:spPr>
            <a:xfrm flipH="false" flipV="false" rot="0">
              <a:off x="0" y="0"/>
              <a:ext cx="1479983" cy="2709333"/>
            </a:xfrm>
            <a:custGeom>
              <a:avLst/>
              <a:gdLst/>
              <a:ahLst/>
              <a:cxnLst/>
              <a:rect r="r" b="b" t="t" l="l"/>
              <a:pathLst>
                <a:path h="2709333" w="1479983">
                  <a:moveTo>
                    <a:pt x="0" y="0"/>
                  </a:moveTo>
                  <a:lnTo>
                    <a:pt x="1479983" y="0"/>
                  </a:lnTo>
                  <a:lnTo>
                    <a:pt x="1479983" y="2709333"/>
                  </a:lnTo>
                  <a:lnTo>
                    <a:pt x="0" y="2709333"/>
                  </a:lnTo>
                  <a:close/>
                </a:path>
              </a:pathLst>
            </a:custGeom>
            <a:solidFill>
              <a:srgbClr val="FFDD54"/>
            </a:solidFill>
          </p:spPr>
        </p:sp>
        <p:sp>
          <p:nvSpPr>
            <p:cNvPr name="TextBox 4" id="4"/>
            <p:cNvSpPr txBox="true"/>
            <p:nvPr/>
          </p:nvSpPr>
          <p:spPr>
            <a:xfrm>
              <a:off x="0" y="-76200"/>
              <a:ext cx="1479983" cy="2785533"/>
            </a:xfrm>
            <a:prstGeom prst="rect">
              <a:avLst/>
            </a:prstGeom>
          </p:spPr>
          <p:txBody>
            <a:bodyPr anchor="ctr" rtlCol="false" tIns="50800" lIns="50800" bIns="50800" rIns="50800"/>
            <a:lstStyle/>
            <a:p>
              <a:pPr algn="ctr">
                <a:lnSpc>
                  <a:spcPts val="2239"/>
                </a:lnSpc>
              </a:pPr>
            </a:p>
          </p:txBody>
        </p:sp>
      </p:grpSp>
      <p:grpSp>
        <p:nvGrpSpPr>
          <p:cNvPr name="Group 5" id="5"/>
          <p:cNvGrpSpPr/>
          <p:nvPr/>
        </p:nvGrpSpPr>
        <p:grpSpPr>
          <a:xfrm rot="-10800000">
            <a:off x="4470991" y="0"/>
            <a:ext cx="1157844" cy="1209304"/>
            <a:chOff x="0" y="0"/>
            <a:chExt cx="571500" cy="596900"/>
          </a:xfrm>
        </p:grpSpPr>
        <p:sp>
          <p:nvSpPr>
            <p:cNvPr name="Freeform 6" id="6"/>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5F5F5"/>
            </a:solidFill>
          </p:spPr>
        </p:sp>
        <p:sp>
          <p:nvSpPr>
            <p:cNvPr name="TextBox 7" id="7"/>
            <p:cNvSpPr txBox="true"/>
            <p:nvPr/>
          </p:nvSpPr>
          <p:spPr>
            <a:xfrm>
              <a:off x="0" y="222250"/>
              <a:ext cx="285750" cy="373380"/>
            </a:xfrm>
            <a:prstGeom prst="rect">
              <a:avLst/>
            </a:prstGeom>
          </p:spPr>
          <p:txBody>
            <a:bodyPr anchor="ctr" rtlCol="false" tIns="50800" lIns="50800" bIns="50800" rIns="50800"/>
            <a:lstStyle/>
            <a:p>
              <a:pPr algn="ctr">
                <a:lnSpc>
                  <a:spcPts val="2239"/>
                </a:lnSpc>
              </a:pPr>
            </a:p>
          </p:txBody>
        </p:sp>
      </p:grpSp>
      <p:graphicFrame>
        <p:nvGraphicFramePr>
          <p:cNvPr name="Table 8" id="8"/>
          <p:cNvGraphicFramePr>
            <a:graphicFrameLocks noGrp="true"/>
          </p:cNvGraphicFramePr>
          <p:nvPr/>
        </p:nvGraphicFramePr>
        <p:xfrm>
          <a:off x="6295260" y="337102"/>
          <a:ext cx="10670965" cy="1383196"/>
        </p:xfrm>
        <a:graphic>
          <a:graphicData uri="http://schemas.openxmlformats.org/drawingml/2006/table">
            <a:tbl>
              <a:tblPr/>
              <a:tblGrid>
                <a:gridCol w="10670965"/>
              </a:tblGrid>
              <a:tr h="1383196">
                <a:tc>
                  <a:txBody>
                    <a:bodyPr anchor="t" rtlCol="false"/>
                    <a:lstStyle/>
                    <a:p>
                      <a:pPr algn="l">
                        <a:lnSpc>
                          <a:spcPts val="3079"/>
                        </a:lnSpc>
                        <a:defRPr/>
                      </a:pPr>
                      <a:r>
                        <a:rPr lang="en-US" sz="2199">
                          <a:solidFill>
                            <a:srgbClr val="000000"/>
                          </a:solidFill>
                          <a:latin typeface="Akzidenz-Grotesk"/>
                          <a:ea typeface="Akzidenz-Grotesk"/>
                          <a:cs typeface="Akzidenz-Grotesk"/>
                          <a:sym typeface="Akzidenz-Grotesk"/>
                        </a:rPr>
                        <a:t>The Artificial Neural Network (ANN) successfully learned com</a:t>
                      </a:r>
                      <a:r>
                        <a:rPr lang="en-US" sz="2199">
                          <a:solidFill>
                            <a:srgbClr val="000000"/>
                          </a:solidFill>
                          <a:latin typeface="Akzidenz-Grotesk"/>
                          <a:ea typeface="Akzidenz-Grotesk"/>
                          <a:cs typeface="Akzidenz-Grotesk"/>
                          <a:sym typeface="Akzidenz-Grotesk"/>
                        </a:rPr>
                        <a:t>pl</a:t>
                      </a:r>
                      <a:r>
                        <a:rPr lang="en-US" sz="2199">
                          <a:solidFill>
                            <a:srgbClr val="000000"/>
                          </a:solidFill>
                          <a:latin typeface="Akzidenz-Grotesk"/>
                          <a:ea typeface="Akzidenz-Grotesk"/>
                          <a:cs typeface="Akzidenz-Grotesk"/>
                          <a:sym typeface="Akzidenz-Grotesk"/>
                        </a:rPr>
                        <a:t>ex rel</a:t>
                      </a:r>
                      <a:r>
                        <a:rPr lang="en-US" sz="2199">
                          <a:solidFill>
                            <a:srgbClr val="000000"/>
                          </a:solidFill>
                          <a:latin typeface="Akzidenz-Grotesk"/>
                          <a:ea typeface="Akzidenz-Grotesk"/>
                          <a:cs typeface="Akzidenz-Grotesk"/>
                          <a:sym typeface="Akzidenz-Grotesk"/>
                        </a:rPr>
                        <a:t>a</a:t>
                      </a:r>
                      <a:r>
                        <a:rPr lang="en-US" sz="2199">
                          <a:solidFill>
                            <a:srgbClr val="000000"/>
                          </a:solidFill>
                          <a:latin typeface="Akzidenz-Grotesk"/>
                          <a:ea typeface="Akzidenz-Grotesk"/>
                          <a:cs typeface="Akzidenz-Grotesk"/>
                          <a:sym typeface="Akzidenz-Grotesk"/>
                        </a:rPr>
                        <a:t>tion</a:t>
                      </a:r>
                      <a:r>
                        <a:rPr lang="en-US" sz="2199">
                          <a:solidFill>
                            <a:srgbClr val="000000"/>
                          </a:solidFill>
                          <a:latin typeface="Akzidenz-Grotesk"/>
                          <a:ea typeface="Akzidenz-Grotesk"/>
                          <a:cs typeface="Akzidenz-Grotesk"/>
                          <a:sym typeface="Akzidenz-Grotesk"/>
                        </a:rPr>
                        <a:t>s</a:t>
                      </a:r>
                      <a:r>
                        <a:rPr lang="en-US" sz="2199">
                          <a:solidFill>
                            <a:srgbClr val="000000"/>
                          </a:solidFill>
                          <a:latin typeface="Akzidenz-Grotesk"/>
                          <a:ea typeface="Akzidenz-Grotesk"/>
                          <a:cs typeface="Akzidenz-Grotesk"/>
                          <a:sym typeface="Akzidenz-Grotesk"/>
                        </a:rPr>
                        <a:t>hips between lifestyle attributes and h</a:t>
                      </a:r>
                      <a:r>
                        <a:rPr lang="en-US" sz="2199">
                          <a:solidFill>
                            <a:srgbClr val="000000"/>
                          </a:solidFill>
                          <a:latin typeface="Akzidenz-Grotesk"/>
                          <a:ea typeface="Akzidenz-Grotesk"/>
                          <a:cs typeface="Akzidenz-Grotesk"/>
                          <a:sym typeface="Akzidenz-Grotesk"/>
                        </a:rPr>
                        <a:t>e</a:t>
                      </a:r>
                      <a:r>
                        <a:rPr lang="en-US" sz="2199">
                          <a:solidFill>
                            <a:srgbClr val="000000"/>
                          </a:solidFill>
                          <a:latin typeface="Akzidenz-Grotesk"/>
                          <a:ea typeface="Akzidenz-Grotesk"/>
                          <a:cs typeface="Akzidenz-Grotesk"/>
                          <a:sym typeface="Akzidenz-Grotesk"/>
                        </a:rPr>
                        <a:t>alth </a:t>
                      </a:r>
                      <a:r>
                        <a:rPr lang="en-US" sz="2199">
                          <a:solidFill>
                            <a:srgbClr val="000000"/>
                          </a:solidFill>
                          <a:latin typeface="Akzidenz-Grotesk"/>
                          <a:ea typeface="Akzidenz-Grotesk"/>
                          <a:cs typeface="Akzidenz-Grotesk"/>
                          <a:sym typeface="Akzidenz-Grotesk"/>
                        </a:rPr>
                        <a:t>co</a:t>
                      </a:r>
                      <a:r>
                        <a:rPr lang="en-US" sz="2199">
                          <a:solidFill>
                            <a:srgbClr val="000000"/>
                          </a:solidFill>
                          <a:latin typeface="Akzidenz-Grotesk"/>
                          <a:ea typeface="Akzidenz-Grotesk"/>
                          <a:cs typeface="Akzidenz-Grotesk"/>
                          <a:sym typeface="Akzidenz-Grotesk"/>
                        </a:rPr>
                        <a:t>n</a:t>
                      </a:r>
                      <a:r>
                        <a:rPr lang="en-US" sz="2199">
                          <a:solidFill>
                            <a:srgbClr val="000000"/>
                          </a:solidFill>
                          <a:latin typeface="Akzidenz-Grotesk"/>
                          <a:ea typeface="Akzidenz-Grotesk"/>
                          <a:cs typeface="Akzidenz-Grotesk"/>
                          <a:sym typeface="Akzidenz-Grotesk"/>
                        </a:rPr>
                        <a:t>d</a:t>
                      </a:r>
                      <a:r>
                        <a:rPr lang="en-US" sz="2199">
                          <a:solidFill>
                            <a:srgbClr val="000000"/>
                          </a:solidFill>
                          <a:latin typeface="Akzidenz-Grotesk"/>
                          <a:ea typeface="Akzidenz-Grotesk"/>
                          <a:cs typeface="Akzidenz-Grotesk"/>
                          <a:sym typeface="Akzidenz-Grotesk"/>
                        </a:rPr>
                        <a:t>iti</a:t>
                      </a:r>
                      <a:r>
                        <a:rPr lang="en-US" sz="2199">
                          <a:solidFill>
                            <a:srgbClr val="000000"/>
                          </a:solidFill>
                          <a:latin typeface="Akzidenz-Grotesk"/>
                          <a:ea typeface="Akzidenz-Grotesk"/>
                          <a:cs typeface="Akzidenz-Grotesk"/>
                          <a:sym typeface="Akzidenz-Grotesk"/>
                        </a:rPr>
                        <a:t>o</a:t>
                      </a:r>
                      <a:r>
                        <a:rPr lang="en-US" sz="2199">
                          <a:solidFill>
                            <a:srgbClr val="000000"/>
                          </a:solidFill>
                          <a:latin typeface="Akzidenz-Grotesk"/>
                          <a:ea typeface="Akzidenz-Grotesk"/>
                          <a:cs typeface="Akzidenz-Grotesk"/>
                          <a:sym typeface="Akzidenz-Grotesk"/>
                        </a:rPr>
                        <a:t>n</a:t>
                      </a:r>
                      <a:r>
                        <a:rPr lang="en-US" sz="2199">
                          <a:solidFill>
                            <a:srgbClr val="000000"/>
                          </a:solidFill>
                          <a:latin typeface="Akzidenz-Grotesk"/>
                          <a:ea typeface="Akzidenz-Grotesk"/>
                          <a:cs typeface="Akzidenz-Grotesk"/>
                          <a:sym typeface="Akzidenz-Grotesk"/>
                        </a:rPr>
                        <a:t>s</a:t>
                      </a:r>
                      <a:r>
                        <a:rPr lang="en-US" sz="2199">
                          <a:solidFill>
                            <a:srgbClr val="000000"/>
                          </a:solidFill>
                          <a:latin typeface="Akzidenz-Grotesk"/>
                          <a:ea typeface="Akzidenz-Grotesk"/>
                          <a:cs typeface="Akzidenz-Grotesk"/>
                          <a:sym typeface="Akzidenz-Grotesk"/>
                        </a:rPr>
                        <a: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9" id="9"/>
          <p:cNvGraphicFramePr>
            <a:graphicFrameLocks noGrp="true"/>
          </p:cNvGraphicFramePr>
          <p:nvPr/>
        </p:nvGraphicFramePr>
        <p:xfrm>
          <a:off x="6314310" y="1859835"/>
          <a:ext cx="10670965" cy="1326832"/>
        </p:xfrm>
        <a:graphic>
          <a:graphicData uri="http://schemas.openxmlformats.org/drawingml/2006/table">
            <a:tbl>
              <a:tblPr/>
              <a:tblGrid>
                <a:gridCol w="10670965"/>
              </a:tblGrid>
              <a:tr h="1274392">
                <a:tc>
                  <a:txBody>
                    <a:bodyPr anchor="t" rtlCol="false"/>
                    <a:lstStyle/>
                    <a:p>
                      <a:pPr algn="l">
                        <a:lnSpc>
                          <a:spcPts val="3079"/>
                        </a:lnSpc>
                        <a:defRPr/>
                      </a:pPr>
                      <a:r>
                        <a:rPr lang="en-US" sz="2199">
                          <a:solidFill>
                            <a:srgbClr val="000000"/>
                          </a:solidFill>
                          <a:latin typeface="Akzidenz-Grotesk"/>
                          <a:ea typeface="Akzidenz-Grotesk"/>
                          <a:cs typeface="Akzidenz-Grotesk"/>
                          <a:sym typeface="Akzidenz-Grotesk"/>
                        </a:rPr>
                        <a:t>The model achieved an accuracy of around 94–98% (de</a:t>
                      </a:r>
                      <a:r>
                        <a:rPr lang="en-US" sz="2199">
                          <a:solidFill>
                            <a:srgbClr val="000000"/>
                          </a:solidFill>
                          <a:latin typeface="Akzidenz-Grotesk"/>
                          <a:ea typeface="Akzidenz-Grotesk"/>
                          <a:cs typeface="Akzidenz-Grotesk"/>
                          <a:sym typeface="Akzidenz-Grotesk"/>
                        </a:rPr>
                        <a:t>p</a:t>
                      </a:r>
                      <a:r>
                        <a:rPr lang="en-US" sz="2199">
                          <a:solidFill>
                            <a:srgbClr val="000000"/>
                          </a:solidFill>
                          <a:latin typeface="Akzidenz-Grotesk"/>
                          <a:ea typeface="Akzidenz-Grotesk"/>
                          <a:cs typeface="Akzidenz-Grotesk"/>
                          <a:sym typeface="Akzidenz-Grotesk"/>
                        </a:rPr>
                        <a:t>ending </a:t>
                      </a:r>
                      <a:r>
                        <a:rPr lang="en-US" sz="2199">
                          <a:solidFill>
                            <a:srgbClr val="000000"/>
                          </a:solidFill>
                          <a:latin typeface="Akzidenz-Grotesk"/>
                          <a:ea typeface="Akzidenz-Grotesk"/>
                          <a:cs typeface="Akzidenz-Grotesk"/>
                          <a:sym typeface="Akzidenz-Grotesk"/>
                        </a:rPr>
                        <a:t>o</a:t>
                      </a:r>
                      <a:r>
                        <a:rPr lang="en-US" sz="2199">
                          <a:solidFill>
                            <a:srgbClr val="000000"/>
                          </a:solidFill>
                          <a:latin typeface="Akzidenz-Grotesk"/>
                          <a:ea typeface="Akzidenz-Grotesk"/>
                          <a:cs typeface="Akzidenz-Grotesk"/>
                          <a:sym typeface="Akzidenz-Grotesk"/>
                        </a:rPr>
                        <a:t>n d</a:t>
                      </a:r>
                      <a:r>
                        <a:rPr lang="en-US" sz="2199">
                          <a:solidFill>
                            <a:srgbClr val="000000"/>
                          </a:solidFill>
                          <a:latin typeface="Akzidenz-Grotesk"/>
                          <a:ea typeface="Akzidenz-Grotesk"/>
                          <a:cs typeface="Akzidenz-Grotesk"/>
                          <a:sym typeface="Akzidenz-Grotesk"/>
                        </a:rPr>
                        <a:t>a</a:t>
                      </a:r>
                      <a:r>
                        <a:rPr lang="en-US" sz="2199">
                          <a:solidFill>
                            <a:srgbClr val="000000"/>
                          </a:solidFill>
                          <a:latin typeface="Akzidenz-Grotesk"/>
                          <a:ea typeface="Akzidenz-Grotesk"/>
                          <a:cs typeface="Akzidenz-Grotesk"/>
                          <a:sym typeface="Akzidenz-Grotesk"/>
                        </a:rPr>
                        <a:t>ta</a:t>
                      </a:r>
                      <a:r>
                        <a:rPr lang="en-US" sz="2199">
                          <a:solidFill>
                            <a:srgbClr val="000000"/>
                          </a:solidFill>
                          <a:latin typeface="Akzidenz-Grotesk"/>
                          <a:ea typeface="Akzidenz-Grotesk"/>
                          <a:cs typeface="Akzidenz-Grotesk"/>
                          <a:sym typeface="Akzidenz-Grotesk"/>
                        </a:rPr>
                        <a:t>s</a:t>
                      </a:r>
                      <a:r>
                        <a:rPr lang="en-US" sz="2199">
                          <a:solidFill>
                            <a:srgbClr val="000000"/>
                          </a:solidFill>
                          <a:latin typeface="Akzidenz-Grotesk"/>
                          <a:ea typeface="Akzidenz-Grotesk"/>
                          <a:cs typeface="Akzidenz-Grotesk"/>
                          <a:sym typeface="Akzidenz-Grotesk"/>
                        </a:rPr>
                        <a:t>et split and training parameters).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10" id="10"/>
          <p:cNvGraphicFramePr>
            <a:graphicFrameLocks noGrp="true"/>
          </p:cNvGraphicFramePr>
          <p:nvPr/>
        </p:nvGraphicFramePr>
        <p:xfrm>
          <a:off x="6304785" y="3329542"/>
          <a:ext cx="10670965" cy="1326832"/>
        </p:xfrm>
        <a:graphic>
          <a:graphicData uri="http://schemas.openxmlformats.org/drawingml/2006/table">
            <a:tbl>
              <a:tblPr/>
              <a:tblGrid>
                <a:gridCol w="10670965"/>
              </a:tblGrid>
              <a:tr h="1274392">
                <a:tc>
                  <a:txBody>
                    <a:bodyPr anchor="t" rtlCol="false"/>
                    <a:lstStyle/>
                    <a:p>
                      <a:pPr algn="l">
                        <a:lnSpc>
                          <a:spcPts val="3079"/>
                        </a:lnSpc>
                        <a:defRPr/>
                      </a:pPr>
                      <a:r>
                        <a:rPr lang="en-US" sz="2199">
                          <a:solidFill>
                            <a:srgbClr val="000000"/>
                          </a:solidFill>
                          <a:latin typeface="Akzidenz-Grotesk"/>
                          <a:ea typeface="Akzidenz-Grotesk"/>
                          <a:cs typeface="Akzidenz-Grotesk"/>
                          <a:sym typeface="Akzidenz-Grotesk"/>
                        </a:rPr>
                        <a:t>The use of Label Encoding and Standard Scaler improved the model’s convergence speed and accuracy.</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11" id="11"/>
          <p:cNvGraphicFramePr>
            <a:graphicFrameLocks noGrp="true"/>
          </p:cNvGraphicFramePr>
          <p:nvPr/>
        </p:nvGraphicFramePr>
        <p:xfrm>
          <a:off x="6314310" y="4799250"/>
          <a:ext cx="10690015" cy="3552825"/>
        </p:xfrm>
        <a:graphic>
          <a:graphicData uri="http://schemas.openxmlformats.org/drawingml/2006/table">
            <a:tbl>
              <a:tblPr/>
              <a:tblGrid>
                <a:gridCol w="10690015"/>
              </a:tblGrid>
              <a:tr h="3552825">
                <a:tc>
                  <a:txBody>
                    <a:bodyPr anchor="t" rtlCol="false"/>
                    <a:lstStyle/>
                    <a:p>
                      <a:pPr algn="l">
                        <a:lnSpc>
                          <a:spcPts val="3079"/>
                        </a:lnSpc>
                        <a:defRPr/>
                      </a:pPr>
                      <a:r>
                        <a:rPr lang="en-US" sz="2199">
                          <a:solidFill>
                            <a:srgbClr val="000000"/>
                          </a:solidFill>
                          <a:latin typeface="Akzidenz-Grotesk"/>
                          <a:ea typeface="Akzidenz-Grotesk"/>
                          <a:cs typeface="Akzidenz-Grotesk"/>
                          <a:sym typeface="Akzidenz-Grotesk"/>
                        </a:rPr>
                        <a:t>Training accuracy: 97.85%</a:t>
                      </a:r>
                      <a:endParaRPr lang="en-US" sz="1100"/>
                    </a:p>
                    <a:p>
                      <a:pPr algn="l">
                        <a:lnSpc>
                          <a:spcPts val="3079"/>
                        </a:lnSpc>
                      </a:pPr>
                      <a:r>
                        <a:rPr lang="en-US" sz="2199">
                          <a:solidFill>
                            <a:srgbClr val="000000"/>
                          </a:solidFill>
                          <a:latin typeface="Akzidenz-Grotesk"/>
                          <a:ea typeface="Akzidenz-Grotesk"/>
                          <a:cs typeface="Akzidenz-Grotesk"/>
                          <a:sym typeface="Akzidenz-Grotesk"/>
                        </a:rPr>
                        <a:t>Final test accuracy: ~97%</a:t>
                      </a:r>
                    </a:p>
                    <a:p>
                      <a:pPr algn="l">
                        <a:lnSpc>
                          <a:spcPts val="3079"/>
                        </a:lnSpc>
                      </a:pPr>
                      <a:r>
                        <a:rPr lang="en-US" sz="2199">
                          <a:solidFill>
                            <a:srgbClr val="000000"/>
                          </a:solidFill>
                          <a:latin typeface="Akzidenz-Grotesk"/>
                          <a:ea typeface="Akzidenz-Grotesk"/>
                          <a:cs typeface="Akzidenz-Grotesk"/>
                          <a:sym typeface="Akzidenz-Grotesk"/>
                        </a:rPr>
                        <a:t>→ Excellent — confirms that the model performs strongly on unseen data.</a:t>
                      </a:r>
                    </a:p>
                    <a:p>
                      <a:pPr algn="l">
                        <a:lnSpc>
                          <a:spcPts val="3079"/>
                        </a:lnSpc>
                      </a:pPr>
                      <a:r>
                        <a:rPr lang="en-US" sz="2199">
                          <a:solidFill>
                            <a:srgbClr val="000000"/>
                          </a:solidFill>
                          <a:latin typeface="Akzidenz-Grotesk"/>
                          <a:ea typeface="Akzidenz-Grotesk"/>
                          <a:cs typeface="Akzidenz-Grotesk"/>
                          <a:sym typeface="Akzidenz-Grotesk"/>
                        </a:rPr>
                        <a:t>Precision (92.31%) — When the model predicts “positive,” it’s right 92% of the time.</a:t>
                      </a:r>
                    </a:p>
                    <a:p>
                      <a:pPr algn="l">
                        <a:lnSpc>
                          <a:spcPts val="3079"/>
                        </a:lnSpc>
                      </a:pPr>
                      <a:r>
                        <a:rPr lang="en-US" sz="2199">
                          <a:solidFill>
                            <a:srgbClr val="000000"/>
                          </a:solidFill>
                          <a:latin typeface="Akzidenz-Grotesk"/>
                          <a:ea typeface="Akzidenz-Grotesk"/>
                          <a:cs typeface="Akzidenz-Grotesk"/>
                          <a:sym typeface="Akzidenz-Grotesk"/>
                        </a:rPr>
                        <a:t>Recall (85.71%) — It correctly identifies about 86% of all actual positives.</a:t>
                      </a:r>
                    </a:p>
                    <a:p>
                      <a:pPr algn="l">
                        <a:lnSpc>
                          <a:spcPts val="3079"/>
                        </a:lnSpc>
                      </a:pPr>
                      <a:r>
                        <a:rPr lang="en-US" sz="2199">
                          <a:solidFill>
                            <a:srgbClr val="000000"/>
                          </a:solidFill>
                          <a:latin typeface="Akzidenz-Grotesk"/>
                          <a:ea typeface="Akzidenz-Grotesk"/>
                          <a:cs typeface="Akzidenz-Grotesk"/>
                          <a:sym typeface="Akzidenz-Grotesk"/>
                        </a:rPr>
                        <a:t>F1-score (88.89%) — A balanced measure between precision and recall; strong performance.</a:t>
                      </a:r>
                    </a:p>
                    <a:p>
                      <a:pPr algn="l">
                        <a:lnSpc>
                          <a:spcPts val="3079"/>
                        </a:lnSpc>
                      </a:pP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bl>
          </a:graphicData>
        </a:graphic>
      </p:graphicFrame>
      <p:graphicFrame>
        <p:nvGraphicFramePr>
          <p:cNvPr name="Table 12" id="12"/>
          <p:cNvGraphicFramePr>
            <a:graphicFrameLocks noGrp="true"/>
          </p:cNvGraphicFramePr>
          <p:nvPr/>
        </p:nvGraphicFramePr>
        <p:xfrm>
          <a:off x="6333360" y="7919621"/>
          <a:ext cx="10670965" cy="1209675"/>
        </p:xfrm>
        <a:graphic>
          <a:graphicData uri="http://schemas.openxmlformats.org/drawingml/2006/table">
            <a:tbl>
              <a:tblPr/>
              <a:tblGrid>
                <a:gridCol w="10670965"/>
              </a:tblGrid>
              <a:tr h="1058516">
                <a:tc>
                  <a:txBody>
                    <a:bodyPr anchor="t" rtlCol="false"/>
                    <a:lstStyle/>
                    <a:p>
                      <a:pPr algn="l">
                        <a:lnSpc>
                          <a:spcPts val="3079"/>
                        </a:lnSpc>
                        <a:defRPr/>
                      </a:pPr>
                      <a:r>
                        <a:rPr lang="en-US" sz="2199">
                          <a:solidFill>
                            <a:srgbClr val="000000"/>
                          </a:solidFill>
                          <a:latin typeface="Akzidenz-Grotesk"/>
                          <a:ea typeface="Akzidenz-Grotesk"/>
                          <a:cs typeface="Akzidenz-Grotesk"/>
                          <a:sym typeface="Akzidenz-Grotesk"/>
                        </a:rPr>
                        <a:t>The results demonstrate that ANN models are effective for health prediction tasks when sufficient data and preprocessing are applied.</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0">
                      <a:solidFill>
                        <a:srgbClr val="FFFFFF"/>
                      </a:solidFill>
                      <a:prstDash val="solid"/>
                      <a:round/>
                      <a:headEnd type="none" w="med" len="med"/>
                      <a:tailEnd type="none" w="med" len="med"/>
                    </a:lnB>
                  </a:tcPr>
                </a:tc>
              </a:tr>
            </a:tbl>
          </a:graphicData>
        </a:graphic>
      </p:graphicFrame>
    </p:spTree>
  </p:cSld>
  <p:clrMapOvr>
    <a:masterClrMapping/>
  </p:clrMapOvr>
  <p:transition spd="slow">
    <p:push dir="l"/>
  </p:transition>
</p:sld>
</file>

<file path=ppt/slides/slide9.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14046966" y="4241034"/>
            <a:ext cx="4285585" cy="6045966"/>
            <a:chOff x="0" y="0"/>
            <a:chExt cx="1128714" cy="1592353"/>
          </a:xfrm>
        </p:grpSpPr>
        <p:sp>
          <p:nvSpPr>
            <p:cNvPr name="Freeform 3" id="3"/>
            <p:cNvSpPr/>
            <p:nvPr/>
          </p:nvSpPr>
          <p:spPr>
            <a:xfrm flipH="false" flipV="false" rot="0">
              <a:off x="0" y="0"/>
              <a:ext cx="1128714" cy="1592353"/>
            </a:xfrm>
            <a:custGeom>
              <a:avLst/>
              <a:gdLst/>
              <a:ahLst/>
              <a:cxnLst/>
              <a:rect r="r" b="b" t="t" l="l"/>
              <a:pathLst>
                <a:path h="1592353" w="1128714">
                  <a:moveTo>
                    <a:pt x="0" y="0"/>
                  </a:moveTo>
                  <a:lnTo>
                    <a:pt x="1128714" y="0"/>
                  </a:lnTo>
                  <a:lnTo>
                    <a:pt x="1128714" y="1592353"/>
                  </a:lnTo>
                  <a:lnTo>
                    <a:pt x="0" y="1592353"/>
                  </a:lnTo>
                  <a:close/>
                </a:path>
              </a:pathLst>
            </a:custGeom>
            <a:solidFill>
              <a:srgbClr val="FFDD54"/>
            </a:solidFill>
          </p:spPr>
        </p:sp>
        <p:sp>
          <p:nvSpPr>
            <p:cNvPr name="TextBox 4" id="4"/>
            <p:cNvSpPr txBox="true"/>
            <p:nvPr/>
          </p:nvSpPr>
          <p:spPr>
            <a:xfrm>
              <a:off x="0" y="-76200"/>
              <a:ext cx="1128714" cy="1668553"/>
            </a:xfrm>
            <a:prstGeom prst="rect">
              <a:avLst/>
            </a:prstGeom>
          </p:spPr>
          <p:txBody>
            <a:bodyPr anchor="ctr" rtlCol="false" tIns="50800" lIns="50800" bIns="50800" rIns="50800"/>
            <a:lstStyle/>
            <a:p>
              <a:pPr algn="ctr">
                <a:lnSpc>
                  <a:spcPts val="2239"/>
                </a:lnSpc>
              </a:pPr>
            </a:p>
          </p:txBody>
        </p:sp>
      </p:grpSp>
      <p:sp>
        <p:nvSpPr>
          <p:cNvPr name="TextBox 5" id="5"/>
          <p:cNvSpPr txBox="true"/>
          <p:nvPr/>
        </p:nvSpPr>
        <p:spPr>
          <a:xfrm rot="0">
            <a:off x="3201854" y="4414838"/>
            <a:ext cx="9194161" cy="1409699"/>
          </a:xfrm>
          <a:prstGeom prst="rect">
            <a:avLst/>
          </a:prstGeom>
        </p:spPr>
        <p:txBody>
          <a:bodyPr anchor="t" rtlCol="false" tIns="0" lIns="0" bIns="0" rIns="0">
            <a:spAutoFit/>
          </a:bodyPr>
          <a:lstStyle/>
          <a:p>
            <a:pPr algn="l" marL="0" indent="0" lvl="0">
              <a:lnSpc>
                <a:spcPts val="9449"/>
              </a:lnSpc>
            </a:pPr>
            <a:r>
              <a:rPr lang="en-US" sz="8999" spc="-224">
                <a:solidFill>
                  <a:srgbClr val="000000"/>
                </a:solidFill>
                <a:latin typeface="Times New Roman MT"/>
                <a:ea typeface="Times New Roman MT"/>
                <a:cs typeface="Times New Roman MT"/>
                <a:sym typeface="Times New Roman MT"/>
              </a:rPr>
              <a:t>Conclusion</a:t>
            </a:r>
          </a:p>
        </p:txBody>
      </p:sp>
      <p:sp>
        <p:nvSpPr>
          <p:cNvPr name="TextBox 6" id="6"/>
          <p:cNvSpPr txBox="true"/>
          <p:nvPr/>
        </p:nvSpPr>
        <p:spPr>
          <a:xfrm rot="0">
            <a:off x="17259300" y="9172575"/>
            <a:ext cx="152400" cy="238125"/>
          </a:xfrm>
          <a:prstGeom prst="rect">
            <a:avLst/>
          </a:prstGeom>
        </p:spPr>
        <p:txBody>
          <a:bodyPr anchor="t" rtlCol="false" tIns="0" lIns="0" bIns="0" rIns="0" wrap="none">
            <a:spAutoFit/>
          </a:bodyPr>
          <a:lstStyle/>
          <a:p>
            <a:pPr algn="ctr">
              <a:lnSpc>
                <a:spcPts val="2940"/>
              </a:lnSpc>
              <a:spcBef>
                <a:spcPct val="0"/>
              </a:spcBef>
            </a:pPr>
            <a:r>
              <a:rPr lang="en-US" sz="2100">
                <a:solidFill>
                  <a:srgbClr val="000000"/>
                </a:solidFill>
                <a:latin typeface="Akzidenz-Grotesk"/>
                <a:ea typeface="Akzidenz-Grotesk"/>
                <a:cs typeface="Akzidenz-Grotesk"/>
                <a:sym typeface="Akzidenz-Grotesk"/>
              </a:rPr>
              <a:t>9</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p:cSld>
    <p:bg>
      <p:bgPr>
        <a:solidFill>
          <a:srgbClr val="F5F5F5"/>
        </a:solidFill>
      </p:bgPr>
    </p:bg>
    <p:spTree>
      <p:nvGrpSpPr>
        <p:cNvPr id="1" name=""/>
        <p:cNvGrpSpPr/>
        <p:nvPr/>
      </p:nvGrpSpPr>
      <p:grpSpPr>
        <a:xfrm>
          <a:off x="0" y="0"/>
          <a:ext cx="0" cy="0"/>
          <a:chOff x="0" y="0"/>
          <a:chExt cx="0" cy="0"/>
        </a:xfrm>
      </p:grpSpPr>
      <p:grpSp>
        <p:nvGrpSpPr>
          <p:cNvPr name="Group 2" id="2"/>
          <p:cNvGrpSpPr/>
          <p:nvPr/>
        </p:nvGrpSpPr>
        <p:grpSpPr>
          <a:xfrm rot="0">
            <a:off x="0" y="0"/>
            <a:ext cx="5619310" cy="10287000"/>
            <a:chOff x="0" y="0"/>
            <a:chExt cx="1479983" cy="2709333"/>
          </a:xfrm>
        </p:grpSpPr>
        <p:sp>
          <p:nvSpPr>
            <p:cNvPr name="Freeform 3" id="3"/>
            <p:cNvSpPr/>
            <p:nvPr/>
          </p:nvSpPr>
          <p:spPr>
            <a:xfrm flipH="false" flipV="false" rot="0">
              <a:off x="0" y="0"/>
              <a:ext cx="1479983" cy="2709333"/>
            </a:xfrm>
            <a:custGeom>
              <a:avLst/>
              <a:gdLst/>
              <a:ahLst/>
              <a:cxnLst/>
              <a:rect r="r" b="b" t="t" l="l"/>
              <a:pathLst>
                <a:path h="2709333" w="1479983">
                  <a:moveTo>
                    <a:pt x="0" y="0"/>
                  </a:moveTo>
                  <a:lnTo>
                    <a:pt x="1479983" y="0"/>
                  </a:lnTo>
                  <a:lnTo>
                    <a:pt x="1479983" y="2709333"/>
                  </a:lnTo>
                  <a:lnTo>
                    <a:pt x="0" y="2709333"/>
                  </a:lnTo>
                  <a:close/>
                </a:path>
              </a:pathLst>
            </a:custGeom>
            <a:solidFill>
              <a:srgbClr val="FFDD54"/>
            </a:solidFill>
          </p:spPr>
        </p:sp>
        <p:sp>
          <p:nvSpPr>
            <p:cNvPr name="TextBox 4" id="4"/>
            <p:cNvSpPr txBox="true"/>
            <p:nvPr/>
          </p:nvSpPr>
          <p:spPr>
            <a:xfrm>
              <a:off x="0" y="-76200"/>
              <a:ext cx="1479983" cy="2785533"/>
            </a:xfrm>
            <a:prstGeom prst="rect">
              <a:avLst/>
            </a:prstGeom>
          </p:spPr>
          <p:txBody>
            <a:bodyPr anchor="ctr" rtlCol="false" tIns="50800" lIns="50800" bIns="50800" rIns="50800"/>
            <a:lstStyle/>
            <a:p>
              <a:pPr algn="ctr">
                <a:lnSpc>
                  <a:spcPts val="2239"/>
                </a:lnSpc>
              </a:pPr>
            </a:p>
          </p:txBody>
        </p:sp>
      </p:grpSp>
      <p:grpSp>
        <p:nvGrpSpPr>
          <p:cNvPr name="Group 5" id="5"/>
          <p:cNvGrpSpPr/>
          <p:nvPr/>
        </p:nvGrpSpPr>
        <p:grpSpPr>
          <a:xfrm rot="-10800000">
            <a:off x="4470991" y="0"/>
            <a:ext cx="1157844" cy="1209304"/>
            <a:chOff x="0" y="0"/>
            <a:chExt cx="571500" cy="596900"/>
          </a:xfrm>
        </p:grpSpPr>
        <p:sp>
          <p:nvSpPr>
            <p:cNvPr name="Freeform 6" id="6"/>
            <p:cNvSpPr/>
            <p:nvPr/>
          </p:nvSpPr>
          <p:spPr>
            <a:xfrm flipH="false" flipV="false" rot="0">
              <a:off x="0" y="0"/>
              <a:ext cx="571500" cy="596900"/>
            </a:xfrm>
            <a:custGeom>
              <a:avLst/>
              <a:gdLst/>
              <a:ahLst/>
              <a:cxnLst/>
              <a:rect r="r" b="b" t="t" l="l"/>
              <a:pathLst>
                <a:path h="596900" w="571500">
                  <a:moveTo>
                    <a:pt x="571500" y="596900"/>
                  </a:moveTo>
                  <a:lnTo>
                    <a:pt x="0" y="596900"/>
                  </a:lnTo>
                  <a:lnTo>
                    <a:pt x="0" y="0"/>
                  </a:lnTo>
                  <a:lnTo>
                    <a:pt x="571500" y="596900"/>
                  </a:lnTo>
                  <a:close/>
                </a:path>
              </a:pathLst>
            </a:custGeom>
            <a:solidFill>
              <a:srgbClr val="F5F5F5"/>
            </a:solidFill>
          </p:spPr>
        </p:sp>
        <p:sp>
          <p:nvSpPr>
            <p:cNvPr name="TextBox 7" id="7"/>
            <p:cNvSpPr txBox="true"/>
            <p:nvPr/>
          </p:nvSpPr>
          <p:spPr>
            <a:xfrm>
              <a:off x="0" y="222250"/>
              <a:ext cx="285750" cy="373380"/>
            </a:xfrm>
            <a:prstGeom prst="rect">
              <a:avLst/>
            </a:prstGeom>
          </p:spPr>
          <p:txBody>
            <a:bodyPr anchor="ctr" rtlCol="false" tIns="50800" lIns="50800" bIns="50800" rIns="50800"/>
            <a:lstStyle/>
            <a:p>
              <a:pPr algn="ctr">
                <a:lnSpc>
                  <a:spcPts val="2239"/>
                </a:lnSpc>
              </a:pPr>
            </a:p>
          </p:txBody>
        </p:sp>
      </p:grpSp>
      <p:graphicFrame>
        <p:nvGraphicFramePr>
          <p:cNvPr name="Table 8" id="8"/>
          <p:cNvGraphicFramePr>
            <a:graphicFrameLocks noGrp="true"/>
          </p:cNvGraphicFramePr>
          <p:nvPr/>
        </p:nvGraphicFramePr>
        <p:xfrm>
          <a:off x="6178194" y="884324"/>
          <a:ext cx="10670965" cy="2381250"/>
        </p:xfrm>
        <a:graphic>
          <a:graphicData uri="http://schemas.openxmlformats.org/drawingml/2006/table">
            <a:tbl>
              <a:tblPr/>
              <a:tblGrid>
                <a:gridCol w="10670965"/>
              </a:tblGrid>
              <a:tr h="2381250">
                <a:tc>
                  <a:txBody>
                    <a:bodyPr anchor="t" rtlCol="false"/>
                    <a:lstStyle/>
                    <a:p>
                      <a:pPr algn="l">
                        <a:lnSpc>
                          <a:spcPts val="3079"/>
                        </a:lnSpc>
                        <a:defRPr/>
                      </a:pPr>
                      <a:r>
                        <a:rPr lang="en-US" sz="2199">
                          <a:solidFill>
                            <a:srgbClr val="000000"/>
                          </a:solidFill>
                          <a:latin typeface="Akzidenz-Grotesk"/>
                          <a:ea typeface="Akzidenz-Grotesk"/>
                          <a:cs typeface="Akzidenz-Grotesk"/>
                          <a:sym typeface="Akzidenz-Grotesk"/>
                        </a:rPr>
                        <a:t>The project “Health and Lifestyle Analysis using Artificial Neural Networks (ANN)” demonstrates the effectiveness of deep learning mod</a:t>
                      </a:r>
                      <a:r>
                        <a:rPr lang="en-US" sz="2199">
                          <a:solidFill>
                            <a:srgbClr val="000000"/>
                          </a:solidFill>
                          <a:latin typeface="Akzidenz-Grotesk"/>
                          <a:ea typeface="Akzidenz-Grotesk"/>
                          <a:cs typeface="Akzidenz-Grotesk"/>
                          <a:sym typeface="Akzidenz-Grotesk"/>
                        </a:rPr>
                        <a:t>els in predicting health outcomes based on lifestyle factors. By leveraging data preprocessing techniques, proper feature scaling, and ANN archit</a:t>
                      </a:r>
                      <a:r>
                        <a:rPr lang="en-US" sz="2199">
                          <a:solidFill>
                            <a:srgbClr val="000000"/>
                          </a:solidFill>
                          <a:latin typeface="Akzidenz-Grotesk"/>
                          <a:ea typeface="Akzidenz-Grotesk"/>
                          <a:cs typeface="Akzidenz-Grotesk"/>
                          <a:sym typeface="Akzidenz-Grotesk"/>
                        </a:rPr>
                        <a:t>ecture tuning, </a:t>
                      </a:r>
                      <a:r>
                        <a:rPr lang="en-US" sz="2199">
                          <a:solidFill>
                            <a:srgbClr val="000000"/>
                          </a:solidFill>
                          <a:latin typeface="Akzidenz-Grotesk"/>
                          <a:ea typeface="Akzidenz-Grotesk"/>
                          <a:cs typeface="Akzidenz-Grotesk"/>
                          <a:sym typeface="Akzidenz-Grotesk"/>
                        </a:rPr>
                        <a:t>the m</a:t>
                      </a:r>
                      <a:r>
                        <a:rPr lang="en-US" sz="2199">
                          <a:solidFill>
                            <a:srgbClr val="000000"/>
                          </a:solidFill>
                          <a:latin typeface="Akzidenz-Grotesk"/>
                          <a:ea typeface="Akzidenz-Grotesk"/>
                          <a:cs typeface="Akzidenz-Grotesk"/>
                          <a:sym typeface="Akzidenz-Grotesk"/>
                        </a:rPr>
                        <a:t>odel ach</a:t>
                      </a:r>
                      <a:r>
                        <a:rPr lang="en-US" sz="2199">
                          <a:solidFill>
                            <a:srgbClr val="000000"/>
                          </a:solidFill>
                          <a:latin typeface="Akzidenz-Grotesk"/>
                          <a:ea typeface="Akzidenz-Grotesk"/>
                          <a:cs typeface="Akzidenz-Grotesk"/>
                          <a:sym typeface="Akzidenz-Grotesk"/>
                        </a:rPr>
                        <a:t>ieved high accuracy and balanced perf</a:t>
                      </a:r>
                      <a:r>
                        <a:rPr lang="en-US" sz="2199">
                          <a:solidFill>
                            <a:srgbClr val="000000"/>
                          </a:solidFill>
                          <a:latin typeface="Akzidenz-Grotesk"/>
                          <a:ea typeface="Akzidenz-Grotesk"/>
                          <a:cs typeface="Akzidenz-Grotesk"/>
                          <a:sym typeface="Akzidenz-Grotesk"/>
                        </a:rPr>
                        <a:t>orma</a:t>
                      </a:r>
                      <a:r>
                        <a:rPr lang="en-US" sz="2199">
                          <a:solidFill>
                            <a:srgbClr val="000000"/>
                          </a:solidFill>
                          <a:latin typeface="Akzidenz-Grotesk"/>
                          <a:ea typeface="Akzidenz-Grotesk"/>
                          <a:cs typeface="Akzidenz-Grotesk"/>
                          <a:sym typeface="Akzidenz-Grotesk"/>
                        </a:rPr>
                        <a:t>nce across all metric</a:t>
                      </a:r>
                      <a:r>
                        <a:rPr lang="en-US" sz="2199">
                          <a:solidFill>
                            <a:srgbClr val="000000"/>
                          </a:solidFill>
                          <a:latin typeface="Akzidenz-Grotesk"/>
                          <a:ea typeface="Akzidenz-Grotesk"/>
                          <a:cs typeface="Akzidenz-Grotesk"/>
                          <a:sym typeface="Akzidenz-Grotesk"/>
                        </a:rPr>
                        <a:t>s</a:t>
                      </a:r>
                      <a:r>
                        <a:rPr lang="en-US" sz="2199">
                          <a:solidFill>
                            <a:srgbClr val="000000"/>
                          </a:solidFill>
                          <a:latin typeface="Akzidenz-Grotesk"/>
                          <a:ea typeface="Akzidenz-Grotesk"/>
                          <a:cs typeface="Akzidenz-Grotesk"/>
                          <a:sym typeface="Akzidenz-Grotesk"/>
                        </a:rPr>
                        <a: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9" id="9"/>
          <p:cNvGraphicFramePr>
            <a:graphicFrameLocks noGrp="true"/>
          </p:cNvGraphicFramePr>
          <p:nvPr/>
        </p:nvGraphicFramePr>
        <p:xfrm>
          <a:off x="6168669" y="3474552"/>
          <a:ext cx="10690015" cy="2381250"/>
        </p:xfrm>
        <a:graphic>
          <a:graphicData uri="http://schemas.openxmlformats.org/drawingml/2006/table">
            <a:tbl>
              <a:tblPr/>
              <a:tblGrid>
                <a:gridCol w="10690015"/>
              </a:tblGrid>
              <a:tr h="2381250">
                <a:tc>
                  <a:txBody>
                    <a:bodyPr anchor="t" rtlCol="false"/>
                    <a:lstStyle/>
                    <a:p>
                      <a:pPr algn="l">
                        <a:lnSpc>
                          <a:spcPts val="3079"/>
                        </a:lnSpc>
                        <a:defRPr/>
                      </a:pPr>
                      <a:r>
                        <a:rPr lang="en-US" sz="2199">
                          <a:solidFill>
                            <a:srgbClr val="000000"/>
                          </a:solidFill>
                          <a:latin typeface="Akzidenz-Grotesk"/>
                          <a:ea typeface="Akzidenz-Grotesk"/>
                          <a:cs typeface="Akzidenz-Grotesk"/>
                          <a:sym typeface="Akzidenz-Grotesk"/>
                        </a:rPr>
                        <a:t>The results highlight the potential of ANN-based systems in supporting early health risk detection and</a:t>
                      </a:r>
                      <a:r>
                        <a:rPr lang="en-US" sz="2199">
                          <a:solidFill>
                            <a:srgbClr val="000000"/>
                          </a:solidFill>
                          <a:latin typeface="Akzidenz-Grotesk"/>
                          <a:ea typeface="Akzidenz-Grotesk"/>
                          <a:cs typeface="Akzidenz-Grotesk"/>
                          <a:sym typeface="Akzidenz-Grotesk"/>
                        </a:rPr>
                        <a:t> promoting better lifestyle decisions. With further refinement and larg</a:t>
                      </a:r>
                      <a:r>
                        <a:rPr lang="en-US" sz="2199">
                          <a:solidFill>
                            <a:srgbClr val="000000"/>
                          </a:solidFill>
                          <a:latin typeface="Akzidenz-Grotesk"/>
                          <a:ea typeface="Akzidenz-Grotesk"/>
                          <a:cs typeface="Akzidenz-Grotesk"/>
                          <a:sym typeface="Akzidenz-Grotesk"/>
                        </a:rPr>
                        <a:t>er datasets, </a:t>
                      </a:r>
                      <a:r>
                        <a:rPr lang="en-US" sz="2199">
                          <a:solidFill>
                            <a:srgbClr val="000000"/>
                          </a:solidFill>
                          <a:latin typeface="Akzidenz-Grotesk"/>
                          <a:ea typeface="Akzidenz-Grotesk"/>
                          <a:cs typeface="Akzidenz-Grotesk"/>
                          <a:sym typeface="Akzidenz-Grotesk"/>
                        </a:rPr>
                        <a:t>this m</a:t>
                      </a:r>
                      <a:r>
                        <a:rPr lang="en-US" sz="2199">
                          <a:solidFill>
                            <a:srgbClr val="000000"/>
                          </a:solidFill>
                          <a:latin typeface="Akzidenz-Grotesk"/>
                          <a:ea typeface="Akzidenz-Grotesk"/>
                          <a:cs typeface="Akzidenz-Grotesk"/>
                          <a:sym typeface="Akzidenz-Grotesk"/>
                        </a:rPr>
                        <a:t>odel can b</a:t>
                      </a:r>
                      <a:r>
                        <a:rPr lang="en-US" sz="2199">
                          <a:solidFill>
                            <a:srgbClr val="000000"/>
                          </a:solidFill>
                          <a:latin typeface="Akzidenz-Grotesk"/>
                          <a:ea typeface="Akzidenz-Grotesk"/>
                          <a:cs typeface="Akzidenz-Grotesk"/>
                          <a:sym typeface="Akzidenz-Grotesk"/>
                        </a:rPr>
                        <a:t>e extended into real-world applications such as pers</a:t>
                      </a:r>
                      <a:r>
                        <a:rPr lang="en-US" sz="2199">
                          <a:solidFill>
                            <a:srgbClr val="000000"/>
                          </a:solidFill>
                          <a:latin typeface="Akzidenz-Grotesk"/>
                          <a:ea typeface="Akzidenz-Grotesk"/>
                          <a:cs typeface="Akzidenz-Grotesk"/>
                          <a:sym typeface="Akzidenz-Grotesk"/>
                        </a:rPr>
                        <a:t>o</a:t>
                      </a:r>
                      <a:r>
                        <a:rPr lang="en-US" sz="2199">
                          <a:solidFill>
                            <a:srgbClr val="000000"/>
                          </a:solidFill>
                          <a:latin typeface="Akzidenz-Grotesk"/>
                          <a:ea typeface="Akzidenz-Grotesk"/>
                          <a:cs typeface="Akzidenz-Grotesk"/>
                          <a:sym typeface="Akzidenz-Grotesk"/>
                        </a:rPr>
                        <a:t>nalized health monitoring systems and preventive healthcare analytic</a:t>
                      </a:r>
                      <a:r>
                        <a:rPr lang="en-US" sz="2199">
                          <a:solidFill>
                            <a:srgbClr val="000000"/>
                          </a:solidFill>
                          <a:latin typeface="Akzidenz-Grotesk"/>
                          <a:ea typeface="Akzidenz-Grotesk"/>
                          <a:cs typeface="Akzidenz-Grotesk"/>
                          <a:sym typeface="Akzidenz-Grotesk"/>
                        </a:rPr>
                        <a:t>s</a:t>
                      </a:r>
                      <a:r>
                        <a:rPr lang="en-US" sz="2199">
                          <a:solidFill>
                            <a:srgbClr val="000000"/>
                          </a:solidFill>
                          <a:latin typeface="Akzidenz-Grotesk"/>
                          <a:ea typeface="Akzidenz-Grotesk"/>
                          <a:cs typeface="Akzidenz-Grotesk"/>
                          <a:sym typeface="Akzidenz-Grotesk"/>
                        </a:rPr>
                        <a:t>.</a:t>
                      </a:r>
                      <a:endParaRPr lang="en-US" sz="1100"/>
                    </a:p>
                    <a:p>
                      <a:pPr algn="l">
                        <a:lnSpc>
                          <a:spcPts val="3079"/>
                        </a:lnSpc>
                      </a:pPr>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graphicFrame>
        <p:nvGraphicFramePr>
          <p:cNvPr name="Table 10" id="10"/>
          <p:cNvGraphicFramePr>
            <a:graphicFrameLocks noGrp="true"/>
          </p:cNvGraphicFramePr>
          <p:nvPr/>
        </p:nvGraphicFramePr>
        <p:xfrm>
          <a:off x="6178194" y="6065352"/>
          <a:ext cx="10747165" cy="1600200"/>
        </p:xfrm>
        <a:graphic>
          <a:graphicData uri="http://schemas.openxmlformats.org/drawingml/2006/table">
            <a:tbl>
              <a:tblPr/>
              <a:tblGrid>
                <a:gridCol w="10747165"/>
              </a:tblGrid>
              <a:tr h="1600200">
                <a:tc>
                  <a:txBody>
                    <a:bodyPr anchor="t" rtlCol="false"/>
                    <a:lstStyle/>
                    <a:p>
                      <a:pPr algn="l">
                        <a:lnSpc>
                          <a:spcPts val="3079"/>
                        </a:lnSpc>
                        <a:defRPr/>
                      </a:pPr>
                      <a:r>
                        <a:rPr lang="en-US" sz="2199">
                          <a:solidFill>
                            <a:srgbClr val="000000"/>
                          </a:solidFill>
                          <a:latin typeface="Akzidenz-Grotesk"/>
                          <a:ea typeface="Akzidenz-Grotesk"/>
                          <a:cs typeface="Akzidenz-Grotesk"/>
                          <a:sym typeface="Akzidenz-Grotesk"/>
                        </a:rPr>
                        <a:t>This integration of Power BI visualization and deep learning demonstrates the potential of AI-driven analytics in healthcar</a:t>
                      </a:r>
                      <a:r>
                        <a:rPr lang="en-US" sz="2199">
                          <a:solidFill>
                            <a:srgbClr val="000000"/>
                          </a:solidFill>
                          <a:latin typeface="Akzidenz-Grotesk"/>
                          <a:ea typeface="Akzidenz-Grotesk"/>
                          <a:cs typeface="Akzidenz-Grotesk"/>
                          <a:sym typeface="Akzidenz-Grotesk"/>
                        </a:rPr>
                        <a:t>e, supporting early disease prediction, behavio</a:t>
                      </a:r>
                      <a:r>
                        <a:rPr lang="en-US" sz="2199">
                          <a:solidFill>
                            <a:srgbClr val="000000"/>
                          </a:solidFill>
                          <a:latin typeface="Akzidenz-Grotesk"/>
                          <a:ea typeface="Akzidenz-Grotesk"/>
                          <a:cs typeface="Akzidenz-Grotesk"/>
                          <a:sym typeface="Akzidenz-Grotesk"/>
                        </a:rPr>
                        <a:t>ral pattern</a:t>
                      </a:r>
                      <a:r>
                        <a:rPr lang="en-US" sz="2199">
                          <a:solidFill>
                            <a:srgbClr val="000000"/>
                          </a:solidFill>
                          <a:latin typeface="Akzidenz-Grotesk"/>
                          <a:ea typeface="Akzidenz-Grotesk"/>
                          <a:cs typeface="Akzidenz-Grotesk"/>
                          <a:sym typeface="Akzidenz-Grotesk"/>
                        </a:rPr>
                        <a:t> identification, and preventive healthcare strategies.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FFFFFF"/>
                      </a:solidFill>
                      <a:prstDash val="solid"/>
                      <a:round/>
                      <a:headEnd type="none" w="med" len="med"/>
                      <a:tailEnd type="none" w="med" len="med"/>
                    </a:lnR>
                    <a:lnT cmpd="sng" algn="ctr" cap="flat" w="0">
                      <a:solidFill>
                        <a:srgbClr val="FFFFFF"/>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DAG22ZPHRyc</dc:identifier>
  <dcterms:modified xsi:type="dcterms:W3CDTF">2011-08-01T06:04:30Z</dcterms:modified>
  <cp:revision>1</cp:revision>
  <dc:title>Post-Campaign Analysis Presentation in Black and White Yellow Grey Dynamic Corporate Style</dc:title>
</cp:coreProperties>
</file>