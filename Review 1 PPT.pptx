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3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5153025"/>
            <a:ext cx="12192000" cy="170497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ieeexplore.ieee.org/document/10076174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xfrm>
            <a:off x="838200" y="130629"/>
            <a:ext cx="10515600" cy="1560061"/>
          </a:xfrm>
          <a:prstGeom prst="rect">
            <a:avLst/>
          </a:prstGeom>
        </p:spPr>
        <p:txBody>
          <a:bodyPr/>
          <a:lstStyle/>
          <a:p>
            <a:pPr algn="ctr" defTabSz="859536">
              <a:defRPr b="1" sz="2632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BCA Final Year Project (Review I)</a:t>
            </a:r>
            <a:br/>
            <a:br/>
            <a:r>
              <a:rPr sz="2256">
                <a:solidFill>
                  <a:srgbClr val="0070C0"/>
                </a:solidFill>
              </a:rPr>
              <a:t>Prediction of Heart Disease Risk Based on Lifestyle Factors Using Machine Learning</a:t>
            </a:r>
            <a:br>
              <a:rPr sz="2256">
                <a:solidFill>
                  <a:srgbClr val="0070C0"/>
                </a:solidFill>
              </a:rPr>
            </a:b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942857" y="1528291"/>
            <a:ext cx="10515601" cy="4661674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b="1" sz="1400">
                <a:solidFill>
                  <a:srgbClr val="A7118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Submitted to the Presidency University, Bengaluru in partial fulfilment  for the award of the degree of  Bachelor of Computer Applications(BCA)</a:t>
            </a:r>
          </a:p>
          <a:p>
            <a:pPr marL="0" indent="0" algn="ctr">
              <a:buSzTx/>
              <a:buNone/>
              <a:defRPr b="1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 Team No : 81</a:t>
            </a:r>
          </a:p>
          <a:p>
            <a:pPr marL="0" indent="0" algn="ctr">
              <a:buSzTx/>
              <a:buNone/>
              <a:defRPr b="1" sz="1400">
                <a:solidFill>
                  <a:srgbClr val="54823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0" indent="0" algn="ctr">
              <a:buSzTx/>
              <a:buNone/>
              <a:defRPr b="1" sz="1800">
                <a:solidFill>
                  <a:srgbClr val="54823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0" indent="0" algn="ctr">
              <a:buSzTx/>
              <a:buNone/>
              <a:defRPr b="1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 the supervision of </a:t>
            </a:r>
          </a:p>
          <a:p>
            <a:pPr marL="0" indent="0" algn="ctr">
              <a:buSzTx/>
              <a:buNone/>
              <a:defRPr b="1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Mr. Afroj Alam</a:t>
            </a:r>
            <a:br/>
            <a:r>
              <a:rPr sz="1200"/>
              <a:t>Assistant Professor, </a:t>
            </a:r>
            <a:br>
              <a:rPr sz="1200"/>
            </a:br>
            <a:r>
              <a:rPr sz="1400"/>
              <a:t>School of Information Science</a:t>
            </a:r>
            <a:br>
              <a:rPr sz="1400"/>
            </a:br>
            <a:br>
              <a:rPr sz="1400"/>
            </a:br>
          </a:p>
        </p:txBody>
      </p:sp>
      <p:sp>
        <p:nvSpPr>
          <p:cNvPr id="105" name="Slide Number Placeholder 3"/>
          <p:cNvSpPr txBox="1"/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06" name="Table 4"/>
          <p:cNvGraphicFramePr/>
          <p:nvPr/>
        </p:nvGraphicFramePr>
        <p:xfrm>
          <a:off x="3435224" y="2457723"/>
          <a:ext cx="5321552" cy="181131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33882"/>
                <a:gridCol w="2687670"/>
              </a:tblGrid>
              <a:tr h="362263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Number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226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Krishna Kumar M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20231BCD0014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226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Siri Ponnala Revanth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20231BCD0031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226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Kushal Ghimirey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20231BCD0055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6226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Rahul S.Menon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20231BCD0049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96;p14"/>
          <p:cNvSpPr txBox="1"/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defTabSz="548640">
              <a:defRPr sz="264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109" name="Google Shape;97;p14"/>
          <p:cNvSpPr txBox="1"/>
          <p:nvPr>
            <p:ph type="body" idx="1"/>
          </p:nvPr>
        </p:nvSpPr>
        <p:spPr>
          <a:xfrm>
            <a:off x="812800" y="1143000"/>
            <a:ext cx="10668000" cy="3924300"/>
          </a:xfrm>
          <a:prstGeom prst="rect">
            <a:avLst/>
          </a:prstGeom>
        </p:spPr>
        <p:txBody>
          <a:bodyPr lIns="45699" tIns="45699" rIns="45699" bIns="45699"/>
          <a:lstStyle/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Tx/>
              <a:buChar char="➢"/>
              <a:defRPr sz="2100">
                <a:latin typeface="Cambria"/>
                <a:ea typeface="Cambria"/>
                <a:cs typeface="Cambria"/>
                <a:sym typeface="Cambria"/>
              </a:defRPr>
            </a:pPr>
            <a:r>
              <a:t>Problem Statement</a:t>
            </a: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Tx/>
              <a:buChar char="➢"/>
              <a:defRPr sz="2100">
                <a:latin typeface="Cambria"/>
                <a:ea typeface="Cambria"/>
                <a:cs typeface="Cambria"/>
                <a:sym typeface="Cambria"/>
              </a:defRPr>
            </a:pPr>
            <a:r>
              <a:t>Literature Survey</a:t>
            </a: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Tx/>
              <a:buChar char="➢"/>
              <a:defRPr sz="2100">
                <a:latin typeface="Cambria"/>
                <a:ea typeface="Cambria"/>
                <a:cs typeface="Cambria"/>
                <a:sym typeface="Cambria"/>
              </a:defRPr>
            </a:pPr>
            <a:r>
              <a:t>Tools and Technologies to be used</a:t>
            </a: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Clr>
                <a:srgbClr val="000000"/>
              </a:buClr>
              <a:buSzPts val="2100"/>
              <a:buFontTx/>
              <a:buChar char="➢"/>
              <a:defRPr sz="2100">
                <a:latin typeface="Cambria"/>
                <a:ea typeface="Cambria"/>
                <a:cs typeface="Cambria"/>
                <a:sym typeface="Cambria"/>
              </a:defRPr>
            </a:pPr>
            <a:r>
              <a:t>Timeline of the Project</a:t>
            </a: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Clr>
                <a:srgbClr val="000000"/>
              </a:buClr>
              <a:buSzPts val="2100"/>
              <a:buFontTx/>
              <a:buChar char="➢"/>
              <a:defRPr sz="2100">
                <a:latin typeface="Cambria"/>
                <a:ea typeface="Cambria"/>
                <a:cs typeface="Cambria"/>
                <a:sym typeface="Cambria"/>
              </a:defRPr>
            </a:pPr>
            <a:r>
              <a:t>Github Link</a:t>
            </a: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Clr>
                <a:srgbClr val="000000"/>
              </a:buClr>
              <a:buSzPts val="2100"/>
              <a:buFontTx/>
              <a:buChar char="➢"/>
              <a:defRPr sz="2100">
                <a:latin typeface="Cambria"/>
                <a:ea typeface="Cambria"/>
                <a:cs typeface="Cambria"/>
                <a:sym typeface="Cambria"/>
              </a:defRPr>
            </a:pPr>
            <a:r>
              <a:t>References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96;p14"/>
          <p:cNvSpPr txBox="1"/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algn="ctr" defTabSz="548640">
              <a:defRPr sz="264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12" name="Text Placeholder 1"/>
          <p:cNvSpPr txBox="1"/>
          <p:nvPr>
            <p:ph type="body" idx="1"/>
          </p:nvPr>
        </p:nvSpPr>
        <p:spPr>
          <a:xfrm>
            <a:off x="1021316" y="1135075"/>
            <a:ext cx="10149368" cy="3404710"/>
          </a:xfrm>
          <a:prstGeom prst="rect">
            <a:avLst/>
          </a:prstGeom>
        </p:spPr>
        <p:txBody>
          <a:bodyPr anchor="ctr"/>
          <a:lstStyle/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Tx/>
              <a:buChar char="➢"/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Heart disease risk is strongly influenced by lifestyle and physiological factors, yet early predictive tools remain limited.</a:t>
            </a: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Tx/>
              <a:buChar char="➢"/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Our project aims to develop and compare machine learning and deep learning models to accurately predict heart disease risk using structured health data.</a:t>
            </a: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Tx/>
              <a:buChar char="➢"/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Provide personalised lifestyle recommendations for risk analysis.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96;p14"/>
          <p:cNvSpPr txBox="1"/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algn="ctr" defTabSz="548640">
              <a:defRPr sz="264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Literature Review</a:t>
            </a:r>
          </a:p>
        </p:txBody>
      </p:sp>
      <p:sp>
        <p:nvSpPr>
          <p:cNvPr id="115" name="TextBox 2"/>
          <p:cNvSpPr txBox="1"/>
          <p:nvPr/>
        </p:nvSpPr>
        <p:spPr>
          <a:xfrm>
            <a:off x="807720" y="971131"/>
            <a:ext cx="10576560" cy="471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Focus on ML and DL based heart disease risk prediction using lifestyle and physiological data[1]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Include studies using Logistic Regression, Random Forest, SVM, XGBoost, and Neural Networks.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Prioritise papers reporting accuracy, recall, and ROC-AUC for cardiovascular prediction.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Traditional machine learning approaches for heart disease prediction.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Deep learning methods applied to structured healthcare data.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"/>
          <p:cNvSpPr txBox="1"/>
          <p:nvPr/>
        </p:nvSpPr>
        <p:spPr>
          <a:xfrm>
            <a:off x="467194" y="-168631"/>
            <a:ext cx="11446807" cy="542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Comparative studies between ML and DL models.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Decision-support and recommendation systems in healthcare.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Most studies report strong performance of Random Forest and ensemble methods on tabular medical data.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Deep learning shows promise but does not always outperform classical ML on structured datasets.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Feature selection and data preprocessing significantly affect prediction accuracy.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Many existing systems focus only on prediction and lack personalized lifestyle recommendations.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96;p14"/>
          <p:cNvSpPr txBox="1"/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algn="ctr" defTabSz="548640">
              <a:defRPr sz="264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Module Design</a:t>
            </a:r>
          </a:p>
        </p:txBody>
      </p:sp>
      <p:sp>
        <p:nvSpPr>
          <p:cNvPr id="120" name="TextBox 2"/>
          <p:cNvSpPr txBox="1"/>
          <p:nvPr/>
        </p:nvSpPr>
        <p:spPr>
          <a:xfrm>
            <a:off x="971153" y="1005670"/>
            <a:ext cx="10576560" cy="435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The system follows a modular architecture to ensure clear functionality, scalability, and easy maintenance.</a:t>
            </a:r>
          </a:p>
          <a:p>
            <a:pPr marL="285750" indent="-285750" algn="just">
              <a:buSzPct val="100000"/>
              <a:buChar char="❖"/>
              <a:defRPr sz="2400">
                <a:latin typeface="Cambria Bold"/>
                <a:ea typeface="Cambria Bold"/>
                <a:cs typeface="Cambria Bold"/>
                <a:sym typeface="Cambria Bold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 Bold"/>
                <a:ea typeface="Cambria Bold"/>
                <a:cs typeface="Cambria Bold"/>
                <a:sym typeface="Cambria Bold"/>
              </a:defRPr>
            </a:pPr>
            <a:r>
              <a:t>Purpose of Modularity</a:t>
            </a:r>
          </a:p>
          <a:p>
            <a:pPr algn="just">
              <a:defRPr sz="2400">
                <a:latin typeface="Cambria Bold"/>
                <a:ea typeface="Cambria Bold"/>
                <a:cs typeface="Cambria Bold"/>
                <a:sym typeface="Cambria Bold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Improves organisation and readability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Enables independent testing</a:t>
            </a: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Simplifies maintenance and upgrades</a:t>
            </a: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96;p14"/>
          <p:cNvSpPr txBox="1"/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algn="ctr" defTabSz="548640">
              <a:defRPr sz="264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Module Design</a:t>
            </a:r>
          </a:p>
        </p:txBody>
      </p:sp>
      <p:sp>
        <p:nvSpPr>
          <p:cNvPr id="123" name="TextBox 2"/>
          <p:cNvSpPr txBox="1"/>
          <p:nvPr/>
        </p:nvSpPr>
        <p:spPr>
          <a:xfrm>
            <a:off x="807720" y="257341"/>
            <a:ext cx="10576560" cy="542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 algn="just">
              <a:defRPr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rPr>
                <a:latin typeface="Cambria Bold"/>
                <a:ea typeface="Cambria Bold"/>
                <a:cs typeface="Cambria Bold"/>
                <a:sym typeface="Cambria Bold"/>
              </a:rPr>
              <a:t>Module 1</a:t>
            </a:r>
            <a:r>
              <a:t>: Data Collection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Loads and validates healthcare dataset</a:t>
            </a: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Prepares raw data for processing</a:t>
            </a: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Role: Acquire and verify input data.</a:t>
            </a: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rPr>
                <a:latin typeface="Cambria Bold"/>
                <a:ea typeface="Cambria Bold"/>
                <a:cs typeface="Cambria Bold"/>
                <a:sym typeface="Cambria Bold"/>
              </a:rPr>
              <a:t>Module 2</a:t>
            </a:r>
            <a:r>
              <a:t>: Data Processing &amp; Model Training</a:t>
            </a: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Performs preprocessing and feature scaling</a:t>
            </a: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Splits data and trains ML/DL models</a:t>
            </a: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Evaluates model performance</a:t>
            </a:r>
          </a:p>
          <a:p>
            <a:pPr lvl="2" indent="4572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Role: Convert raw data into predictive models.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96;p14"/>
          <p:cNvSpPr txBox="1"/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algn="ctr" defTabSz="548640">
              <a:defRPr sz="264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Module Design</a:t>
            </a:r>
          </a:p>
        </p:txBody>
      </p:sp>
      <p:sp>
        <p:nvSpPr>
          <p:cNvPr id="126" name="TextBox 2"/>
          <p:cNvSpPr txBox="1"/>
          <p:nvPr/>
        </p:nvSpPr>
        <p:spPr>
          <a:xfrm>
            <a:off x="807720" y="1199815"/>
            <a:ext cx="10576560" cy="222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 algn="just">
              <a:buSzPct val="100000"/>
              <a:buChar char="❖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rPr>
                <a:latin typeface="Cambria Bold"/>
                <a:ea typeface="Cambria Bold"/>
                <a:cs typeface="Cambria Bold"/>
                <a:sym typeface="Cambria Bold"/>
              </a:rPr>
              <a:t>Module 3</a:t>
            </a:r>
            <a:r>
              <a:t>: Risk Prediction &amp; Recommendation</a:t>
            </a:r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lvl="5" indent="11430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Predicts heart disease risk</a:t>
            </a:r>
          </a:p>
          <a:p>
            <a:pPr lvl="5" indent="11430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Generates personalised lifestyle suggestions</a:t>
            </a:r>
          </a:p>
          <a:p>
            <a:pPr lvl="5" indent="11430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Provides decision-support output</a:t>
            </a:r>
          </a:p>
          <a:p>
            <a:pPr lvl="5" indent="11430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Role: Deliver actionable health insights.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xfrm>
            <a:off x="747822" y="-17759"/>
            <a:ext cx="10696356" cy="1143001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Tools And Technologies To Be Used</a:t>
            </a:r>
          </a:p>
        </p:txBody>
      </p:sp>
      <p:sp>
        <p:nvSpPr>
          <p:cNvPr id="129" name="Content Placeholder 2"/>
          <p:cNvSpPr txBox="1"/>
          <p:nvPr>
            <p:ph type="body" idx="1"/>
          </p:nvPr>
        </p:nvSpPr>
        <p:spPr>
          <a:xfrm>
            <a:off x="1013636" y="1663994"/>
            <a:ext cx="10164728" cy="4525964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- Development Tools: [Jupyter ,Google colab and PowerBi]</a:t>
            </a:r>
          </a:p>
          <a:p>
            <a:pPr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- Programming Languages: [Python]</a:t>
            </a:r>
          </a:p>
          <a:p>
            <a:pPr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- Libraries: [Scikit-learn, pandas, numpy]</a:t>
            </a:r>
          </a:p>
          <a:p>
            <a:pPr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- Version Control: [Git and GitHub]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14;p17"/>
          <p:cNvSpPr txBox="1"/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indent="91440" algn="ctr" defTabSz="548640">
              <a:lnSpc>
                <a:spcPct val="200000"/>
              </a:lnSpc>
              <a:defRPr sz="264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Github Link</a:t>
            </a:r>
          </a:p>
        </p:txBody>
      </p:sp>
      <p:sp>
        <p:nvSpPr>
          <p:cNvPr id="132" name="Google Shape;115;p17"/>
          <p:cNvSpPr txBox="1"/>
          <p:nvPr/>
        </p:nvSpPr>
        <p:spPr>
          <a:xfrm>
            <a:off x="708859" y="868431"/>
            <a:ext cx="10576551" cy="417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marL="190500" indent="-38100" algn="just">
              <a:defRPr sz="2400">
                <a:solidFill>
                  <a:srgbClr val="C55A11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190500" indent="-38100" algn="just">
              <a:defRPr sz="2400">
                <a:solidFill>
                  <a:srgbClr val="C55A1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Github Link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190500" indent="-38100" algn="just">
              <a:defRPr sz="2400">
                <a:solidFill>
                  <a:srgbClr val="C55A11"/>
                </a:solidFill>
                <a:latin typeface="Cambria"/>
                <a:ea typeface="Cambria"/>
                <a:cs typeface="Cambria"/>
                <a:sym typeface="Cambria"/>
              </a:defRPr>
            </a:pP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190500" indent="-38100" algn="just">
              <a:defRPr sz="2400">
                <a:solidFill>
                  <a:srgbClr val="C55A11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 indent="76200">
              <a:spcBef>
                <a:spcPts val="400"/>
              </a:spcBef>
              <a:defRPr sz="2400" u="sng">
                <a:latin typeface="Cambria"/>
                <a:ea typeface="Cambria"/>
                <a:cs typeface="Cambria"/>
                <a:sym typeface="Cambria"/>
              </a:defRPr>
            </a:pPr>
            <a:r>
              <a:t>https://github.com/rokuta0/heart-disease-prediction</a:t>
            </a:r>
            <a:endParaRPr>
              <a:solidFill>
                <a:srgbClr val="C55A11"/>
              </a:solidFill>
            </a:endParaRPr>
          </a:p>
          <a:p>
            <a:pPr marL="190500" indent="-38100"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190500" indent="-38100" algn="just">
              <a:lnSpc>
                <a:spcPct val="200000"/>
              </a:lnSpc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190500" indent="-38100" algn="just">
              <a:lnSpc>
                <a:spcPct val="200000"/>
              </a:lnSpc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11692" y="298689"/>
            <a:ext cx="8357363" cy="47532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44;p22"/>
          <p:cNvSpPr txBox="1"/>
          <p:nvPr>
            <p:ph type="title"/>
          </p:nvPr>
        </p:nvSpPr>
        <p:spPr>
          <a:xfrm>
            <a:off x="545120" y="182536"/>
            <a:ext cx="10668001" cy="487501"/>
          </a:xfrm>
          <a:prstGeom prst="rect">
            <a:avLst/>
          </a:prstGeom>
        </p:spPr>
        <p:txBody>
          <a:bodyPr lIns="45699" tIns="45699" rIns="45699" bIns="45699"/>
          <a:lstStyle>
            <a:lvl1pPr defTabSz="548640">
              <a:defRPr sz="264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References (IEEE Paper format)</a:t>
            </a:r>
          </a:p>
        </p:txBody>
      </p:sp>
      <p:sp>
        <p:nvSpPr>
          <p:cNvPr id="137" name="Google Shape;145;p22"/>
          <p:cNvSpPr txBox="1"/>
          <p:nvPr>
            <p:ph type="body" idx="1"/>
          </p:nvPr>
        </p:nvSpPr>
        <p:spPr>
          <a:xfrm>
            <a:off x="372373" y="927100"/>
            <a:ext cx="11447254" cy="4953000"/>
          </a:xfrm>
          <a:prstGeom prst="rect">
            <a:avLst/>
          </a:prstGeom>
        </p:spPr>
        <p:txBody>
          <a:bodyPr lIns="45699" tIns="45699" rIns="45699" bIns="45699"/>
          <a:lstStyle/>
          <a:p>
            <a:pPr>
              <a:lnSpc>
                <a:spcPct val="81000"/>
              </a:lnSpc>
            </a:pPr>
            <a:r>
              <a:t>Ghongade, O. S., et al. “</a:t>
            </a:r>
            <a:r>
              <a:rPr b="1"/>
              <a:t>A Comparison of Neural Networks and Machine Learning Methods for Prediction of Heart Disease.” </a:t>
            </a:r>
            <a:r>
              <a:t>Computational Techniques (ICCT),2023, pp. 1–7,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https://ieeexplore.ieee.org/document/10076174</a:t>
            </a:r>
          </a:p>
          <a:p>
            <a:pPr>
              <a:lnSpc>
                <a:spcPct val="81000"/>
              </a:lnSpc>
            </a:pPr>
          </a:p>
          <a:p>
            <a:pPr>
              <a:lnSpc>
                <a:spcPct val="81000"/>
              </a:lnSpc>
            </a:pPr>
            <a:r>
              <a:t>Apurb Rajdhan, Avi Agarwal, Milan Sai, Dundigalla Ravi, Dr. Poonam Ghuli Student CSE, R V College of Engineering, Bengaluru, India  ,Associate Professor, R V College of Engineering, Bengaluru, India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2810" y="1441315"/>
            <a:ext cx="3893306" cy="39354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